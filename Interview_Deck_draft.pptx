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Lst>
  <p:sldSz cx="12191695"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00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dImg Placeholder"/>
          <p:cNvSpPr>
            <a:spLocks noGrp="1"/>
          </p:cNvSpPr>
          <p:nvPr>
            <p:ph type="sldImg"/>
          </p:nvPr>
        </p:nvSpPr>
        <p:spPr>
          <a:xfrm>
            <a:off x="384048" y="685800"/>
            <a:ext cx="6099048" cy="3429000"/>
          </a:xfrm>
          <a:prstGeom prst="rect">
            <a:avLst/>
          </a:prstGeom>
        </p:spPr>
        <p:txBody>
          <a:bodyPr/>
          <a:lstStyle/>
          <a:p>
            <a:endParaRPr lang="en-GB"/>
          </a:p>
        </p:txBody>
      </p:sp>
      <p:sp>
        <p:nvSpPr>
          <p:cNvPr id="3" name="body Placeholder"/>
          <p:cNvSpPr>
            <a:spLocks noGrp="1"/>
          </p:cNvSpPr>
          <p:nvPr>
            <p:ph type="body" idx="1"/>
          </p:nvPr>
        </p:nvSpPr>
        <p:spPr>
          <a:xfrm>
            <a:off x="685800" y="4343400"/>
            <a:ext cx="5486400" cy="4114800"/>
          </a:xfrm>
          <a:prstGeom prst="rect">
            <a:avLst/>
          </a:prstGeom>
        </p:spPr>
        <p:txBody>
          <a:bodyPr/>
          <a:lstStyle/>
          <a:p>
            <a:endParaRPr lang="en-GB"/>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[0:10] Good morning. I'm Michael Chiseni, an economic historian. My project asks why people who can reach a clinic often don't use it, and whether colonial mission medicine is part of the answer.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[0:50] Across Sub-Saharan Africa, many communities live within reach of a health facility. Yet antenatal care, facility births and childhood vaccination remain low, and disease burden varies enormously within countries. The usual explanations are poverty, distance and the quality of facilities. They matter, but they leave a gap: communities with similar income, schooling and distance to a clinic still differ in how readily they use it. Health-systems research points to trust. Where people don't trust the system, they delay care, bypass clinics and stop treatment early. What the field lacks is an explanation of why trust is high in some places and low in others. That is the gap I address.</a:t>
            </a:r>
          </a:p>
          <a:p>
            <a:r>
              <a:rPr lang="en-GB" sz="1200" dirty="0"/>
              <a:t/>
            </a:r>
          </a:p>
          <a:p>
            <a:r>
              <a:rPr lang="en-GB" sz="1200" dirty="0"/>
              <a:t>VISUAL TO ADD: replace the dashed box with one map of within-country variation (for example facility births or DTP3 by DHS cluster in Zambia) with health facilities overlaid.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[0:55] In British colonial Africa, the first Western healthcare most communities encountered was run by missionaries, often decades before colonial states built public health systems. In Northern Rhodesia, which I studied for my PhD, the government ran twelve hospitals for Africans throughout the colonial period. Mission hospitals grew from 26 in 1933 to 89 by 1953, mostly in rural areas. The experience was uneven. In some places it was care; in others it came with coercion and attacks on local healing. Recent research shows both legacies can last: coercive colonial medical campaigns in central Africa still lower trust and vaccination today, while living near a medical mission in colonial India still predicts better health. My hypothesis is that mission medicine left a trust dividend in some places and a deficit in others.</a:t>
            </a:r>
          </a:p>
          <a:p>
            <a:r>
              <a:rPr lang="en-GB" sz="1200" dirty="0"/>
              <a:t/>
            </a:r>
          </a:p>
          <a:p>
            <a:r>
              <a:rPr lang="en-GB" sz="1200" dirty="0"/>
              <a:t>OPTIONAL: replace the bar chart with Figure 3 of the African Studies paper (full 1925 to 1953 series).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[0:45] I ask four questions. First, where exactly was mission healthcare: individual hospitals and dispensaries, not just mission stations? Second, do communities exposed to it show different trust and health-seeking today, and does that predict disease burden? Third, through which channels: surviving church health facilities, generations of health workers, religious norms, or memories of coercion? Fourth, how do communities themselves understand this history? The diagram shows the chain I'll test: historical exposure, to trust, to health-seeking, to disease burden, alongside a direct route through facilities that survive today.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[0:50] This is the kind of source I work with: a page from a Northern Rhodesia medical report listing every government-subsidised mission station by society, with in-patients and out-patients year by year. Most quantitative work on missions uses missionary atlases. Jedwab and colleagues show these atlases miss between 76 and 91 percent of missions and over-represent prominent early stations, which biases results. I combine two administrative sources: the Blue Book church returns, which list every mission station, and the medical reports, which add facility type and patient numbers. I've done this for Zambia and published the method. This project scales it across British colonial Africa and releases the dataset openly.</a:t>
            </a:r>
          </a:p>
          <a:p>
            <a:r>
              <a:rPr lang="en-GB" sz="1200" dirty="0"/>
              <a:t/>
            </a:r>
          </a:p>
          <a:p>
            <a:r>
              <a:rPr lang="en-GB" sz="1200" dirty="0"/>
              <a:t>OPTIONAL: add your 1953 Zambia mission-hospital map (Figure 2, African Studies 2025) beside the table photo.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[0:40] The project runs for 48 months in five work packages. WP1 builds the dataset from UK archives with a research assistant, best-documented territories first, with version one at month 18. WP2 links it to geo-located health surveys, Afrobarometer, high-resolution disease-burden maps and a database of nearly 99,000 public health facilities. WP3 tests causality and mechanisms. WP4 is fieldwork in four Zambian communities. WP5 delivers the open dataset, papers and policy briefs.</a:t>
            </a:r>
          </a:p>
          <a:p>
            <a:r>
              <a:rPr lang="en-GB" sz="1200" dirty="0"/>
              <a:t/>
            </a:r>
          </a:p>
          <a:p>
            <a:r>
              <a:rPr lang="en-GB" sz="1200" dirty="0"/>
              <a:t>Background: London archive trip months 2 to 4 (PI 6 weeks, RA 3 weeks). Ethics applications start month 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[1:00] The obvious objection is that missionaries chose where to go, and chose healthier, more accessible, richer places. I address that in layers. I control for the factors known to drive mission location, and for where the colonial state built its own hospitals. I compare mission stations that had a hospital or dispensary with stations that didn't: both faced the same choice of location, but only one offered medicine. I use differences between missionary societies in how much medical work they did as a source of variation in exposure. And I check dose-response: effects should grow with years of operation and patient numbers, and fade with distance. For the trust channel, I state the assumptions, test how strong hidden confounding would have to be to overturn the result, and triangulate with fieldwork. The aim is an honest, bounded estimate.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[0:35] Numbers can't tell us what a mission hospital meant to people. So I'll work in four Zambian communities: two with long mission-hospital histories, two without but with similar access to care today. Around fifty interviews and eight focus groups, held separately for women and men, with elders, health workers, healers, leaders and young people. Communities will review and help interpret the findings before publication.</a:t>
            </a:r>
          </a:p>
          <a:p>
            <a:r>
              <a:rPr lang="en-GB" sz="1200" dirty="0"/>
              <a:t/>
            </a:r>
          </a:p>
          <a:p>
            <a:r>
              <a:rPr lang="en-GB" sz="1200" dirty="0"/>
              <a:t>Note: traditional healers and church leaders are added to the sample as a refinement since submission (say so on slide 9 if you adopt 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[1:15] DRAFT. Rebuild this slide once the reviewer comments arrive (Section 5 of Interview_Preparation.md). Pick the 2 or 3 points that recur or touch the core design.</a:t>
            </a:r>
          </a:p>
          <a:p>
            <a:r>
              <a:rPr lang="en-GB" sz="1200" dirty="0"/>
              <a:t/>
            </a:r>
          </a:p>
          <a:p>
            <a:r>
              <a:rPr lang="en-GB" sz="1200" dirty="0"/>
              <a:t>Script template: The reviewers raised three main points. [Point 1 in a few words]: [your response in one or two sentences]. [Point 2]: [...]. [Point 3]: [...]. Since submission, I have [real updates only].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[0:45] I'm well placed because I've already done the hardest part once. For my PhD at Lund, I built the geo-referenced dataset of mission activity in Zambia. It underpins a sole-authored, open-access monograph with Springer, an article on mission healthcare in African Studies, and an article in Economic History of Developing Regions linking missionary exposure to HIV and sexual behaviour today. I've used instrumental-variable designs across several papers and led six months of fieldwork in rural Zambia. This award will let me scale across archives, add causal mediation and spatial epidemiology, and learn to lead a team.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[0:50] I'll be based at Stellenbosch University in LEAP, the Laboratory for the Economics of Africa's Past, with Professor Johan Fourie as sponsor and mentor. LEAP is one of the leading groups digitising and analysing African historical records, so I'll work alongside people using the same kinds of sources and methods. I'll build the health side through my advisory group, [names], and links with health researchers at Stellenbosch and in Zambia. Being at an African university also matters: it's close to my field sites and policy audiences, and the skills built under this grant stay on the continent.</a:t>
            </a:r>
          </a:p>
          <a:p>
            <a:r>
              <a:rPr lang="en-GB" sz="1200" dirty="0"/>
              <a:t/>
            </a:r>
          </a:p>
          <a:p>
            <a:r>
              <a:rPr lang="en-GB" sz="1200" dirty="0"/>
              <a:t>Replace every [name] / [partner] with confirmed people only.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[0:40] For research culture, four commitments. I'll recruit and train a research assistant with a written development plan and co-authorship on the data paper when it's earned. Zambian fieldwork staff will be trained and paid fairly, and credited by name. Communities will see and shape the findings before anyone else. And the dataset, code and papers will be open. [Optional, if you are comfortable sharing: Having taken parental leave myself, I'll make flexible working real for my team.]</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[0:20] If I'm right, part of Africa's health inequality is historical, and the lever is trust, which new buildings alone won't move. And whatever the result, researchers will have the first open, facility-level map of mission medicine in British Africa. Thank you.</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Not part of the 10-minute talk.</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See Q15 and Q19 in Interview_Preparation.md.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See Q21 in Interview_Preparation.md.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See Q27 and Q28 in Interview_Preparation.md.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See Q38 to Q42.</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See Q16 to Q18.</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See Q40 and Section 2 facts.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Placeholder"/>
          <p:cNvSpPr>
            <a:spLocks noGrp="1"/>
          </p:cNvSpPr>
          <p:nvPr>
            <p:ph type="title"/>
          </p:nvPr>
        </p:nvSpPr>
        <p:spPr>
          <a:xfrm>
            <a:off x="548640" y="320040"/>
            <a:ext cx="11094415" cy="1097280"/>
          </a:xfrm>
          <a:prstGeom prst="rect">
            <a:avLst/>
          </a:prstGeom>
        </p:spPr>
        <p:txBody>
          <a:body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48640" y="320040"/>
            <a:ext cx="11094415" cy="1097280"/>
          </a:xfrm>
          <a:prstGeom prst="rect">
            <a:avLst/>
          </a:prstGeom>
        </p:spPr>
        <p:txBody>
          <a:bodyPr/>
          <a:lstStyle/>
          <a:p>
            <a:endParaRPr lang="en-GB"/>
          </a:p>
        </p:txBody>
      </p:sp>
      <p:sp>
        <p:nvSpPr>
          <p:cNvPr id="3" name="body Placeholder"/>
          <p:cNvSpPr>
            <a:spLocks noGrp="1"/>
          </p:cNvSpPr>
          <p:nvPr>
            <p:ph type="body" idx="1"/>
          </p:nvPr>
        </p:nvSpPr>
        <p:spPr>
          <a:xfrm>
            <a:off x="548640" y="1645920"/>
            <a:ext cx="11094415" cy="4663440"/>
          </a:xfrm>
          <a:prstGeom prst="rect">
            <a:avLst/>
          </a:prstGeom>
        </p:spPr>
        <p:txBody>
          <a:body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marL="0" indent="0" algn="l">
        <a:spcBef>
          <a:spcPts val="0"/>
        </a:spcBef>
        <a:buNone/>
        <a:defRPr sz="3200" b="1">
          <a:solidFill>
            <a:srgbClr val="1F2A44"/>
          </a:solidFill>
          <a:latin typeface="Arial"/>
        </a:defRPr>
      </a:lvl1pPr>
    </p:titleStyle>
    <p:bodyStyle>
      <a:lvl1pPr marL="0" indent="0" algn="l">
        <a:spcBef>
          <a:spcPts val="0"/>
        </a:spcBef>
        <a:buNone/>
        <a:defRPr sz="2400" b="0">
          <a:solidFill>
            <a:srgbClr val="1F2A44"/>
          </a:solidFill>
          <a:latin typeface="Arial"/>
        </a:defRPr>
      </a:lvl1pPr>
    </p:bodyStyle>
    <p:otherStyle>
      <a:lvl1pPr marL="0" indent="0" algn="l">
        <a:spcBef>
          <a:spcPts val="0"/>
        </a:spcBef>
        <a:buNone/>
        <a:defRPr sz="1800" b="0">
          <a:solidFill>
            <a:srgbClr val="1F2A44"/>
          </a:solidFill>
          <a:latin typeface="Arial"/>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10"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10"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822960"/>
            <a:ext cx="6400800" cy="1463040"/>
          </a:xfrm>
          <a:prstGeom prst="rect">
            <a:avLst/>
          </a:prstGeom>
          <a:noFill/>
          <a:ln>
            <a:noFill/>
          </a:ln>
        </p:spPr>
        <p:txBody>
          <a:bodyPr wrap="square" lIns="45720" tIns="22860" rIns="45720" bIns="22860" anchor="b" rtlCol="0">
            <a:noAutofit/>
          </a:bodyPr>
          <a:lstStyle/>
          <a:p>
            <a:pPr algn="l">
              <a:lnSpc>
                <a:spcPct val="100000"/>
              </a:lnSpc>
              <a:spcAft>
                <a:spcPts val="600"/>
              </a:spcAft>
              <a:buNone/>
            </a:pPr>
            <a:r>
              <a:rPr lang="en-GB" sz="4000" b="1" i="0" dirty="0">
                <a:solidFill>
                  <a:srgbClr val="1F2A44"/>
                </a:solidFill>
                <a:latin typeface="Arial"/>
                <a:cs typeface="Arial"/>
              </a:rPr>
              <a:t>The Long Shadow of Mission Medicine</a:t>
            </a:r>
            <a:endParaRPr lang="en-GB" sz="4000"/>
          </a:p>
        </p:txBody>
      </p:sp>
      <p:sp>
        <p:nvSpPr>
          <p:cNvPr id="3" name="Shape 3"/>
          <p:cNvSpPr/>
          <p:nvPr/>
        </p:nvSpPr>
        <p:spPr>
          <a:xfrm>
            <a:off x="548640" y="23774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4" name="Shape 4"/>
          <p:cNvSpPr/>
          <p:nvPr/>
        </p:nvSpPr>
        <p:spPr>
          <a:xfrm>
            <a:off x="548640" y="2606040"/>
            <a:ext cx="6309360" cy="1463040"/>
          </a:xfrm>
          <a:prstGeom prst="rect">
            <a:avLst/>
          </a:prstGeom>
          <a:noFill/>
          <a:ln>
            <a:noFill/>
          </a:ln>
        </p:spPr>
        <p:txBody>
          <a:bodyPr wrap="square" lIns="45720" tIns="22860" rIns="45720" bIns="22860" anchor="t" rtlCol="0">
            <a:noAutofit/>
          </a:bodyPr>
          <a:lstStyle/>
          <a:p>
            <a:pPr algn="l">
              <a:lnSpc>
                <a:spcPct val="100000"/>
              </a:lnSpc>
              <a:spcAft>
                <a:spcPts val="600"/>
              </a:spcAft>
              <a:buNone/>
            </a:pPr>
            <a:r>
              <a:rPr lang="en-GB" sz="2400" b="0" i="0" dirty="0">
                <a:solidFill>
                  <a:srgbClr val="1F2A44"/>
                </a:solidFill>
                <a:latin typeface="Arial"/>
                <a:cs typeface="Arial"/>
              </a:rPr>
              <a:t>Colonial missionary healthcare, institutional trust, and the spatial burden of disease in Sub-Saharan Africa</a:t>
            </a:r>
            <a:endParaRPr lang="en-GB" sz="2400"/>
          </a:p>
        </p:txBody>
      </p:sp>
      <p:sp>
        <p:nvSpPr>
          <p:cNvPr id="5" name="Shape 5"/>
          <p:cNvSpPr/>
          <p:nvPr/>
        </p:nvSpPr>
        <p:spPr>
          <a:xfrm>
            <a:off x="548640" y="4206240"/>
            <a:ext cx="6309360" cy="1463040"/>
          </a:xfrm>
          <a:prstGeom prst="rect">
            <a:avLst/>
          </a:prstGeom>
          <a:noFill/>
          <a:ln>
            <a:noFill/>
          </a:ln>
        </p:spPr>
        <p:txBody>
          <a:bodyPr wrap="square" lIns="45720" tIns="22860" rIns="45720" bIns="22860" anchor="t" rtlCol="0">
            <a:noAutofit/>
          </a:bodyPr>
          <a:lstStyle/>
          <a:p>
            <a:pPr algn="l">
              <a:lnSpc>
                <a:spcPct val="100000"/>
              </a:lnSpc>
              <a:spcAft>
                <a:spcPts val="400"/>
              </a:spcAft>
              <a:buNone/>
            </a:pPr>
            <a:r>
              <a:rPr lang="en-GB" sz="2400" b="1" i="0" dirty="0">
                <a:solidFill>
                  <a:srgbClr val="1F2A44"/>
                </a:solidFill>
                <a:latin typeface="Arial"/>
                <a:cs typeface="Arial"/>
              </a:rPr>
              <a:t>Dr Michael Chanda Chiseni</a:t>
            </a:r>
            <a:endParaRPr lang="en-GB" sz="2400"/>
          </a:p>
          <a:p>
            <a:pPr algn="l">
              <a:lnSpc>
                <a:spcPct val="100000"/>
              </a:lnSpc>
              <a:spcAft>
                <a:spcPts val="600"/>
              </a:spcAft>
              <a:buNone/>
            </a:pPr>
            <a:r>
              <a:rPr lang="en-GB" sz="2000" b="0" i="0" dirty="0">
                <a:solidFill>
                  <a:srgbClr val="1F2A44"/>
                </a:solidFill>
                <a:latin typeface="Arial"/>
                <a:cs typeface="Arial"/>
              </a:rPr>
              <a:t>Stellenbosch University, Laboratory for the Economics of Africa's Past (LEAP)</a:t>
            </a:r>
            <a:endParaRPr lang="en-GB" sz="2000"/>
          </a:p>
        </p:txBody>
      </p:sp>
      <p:sp>
        <p:nvSpPr>
          <p:cNvPr id="6" name="Shape 6"/>
          <p:cNvSpPr/>
          <p:nvPr/>
        </p:nvSpPr>
        <p:spPr>
          <a:xfrm>
            <a:off x="548640" y="5715000"/>
            <a:ext cx="6309360" cy="548640"/>
          </a:xfrm>
          <a:prstGeom prst="rect">
            <a:avLst/>
          </a:prstGeom>
          <a:noFill/>
          <a:ln>
            <a:noFill/>
          </a:ln>
        </p:spPr>
        <p:txBody>
          <a:bodyPr wrap="square" lIns="45720" tIns="22860" rIns="45720" bIns="22860" anchor="t" rtlCol="0">
            <a:noAutofit/>
          </a:bodyPr>
          <a:lstStyle/>
          <a:p>
            <a:pPr algn="l">
              <a:lnSpc>
                <a:spcPct val="100000"/>
              </a:lnSpc>
              <a:spcAft>
                <a:spcPts val="600"/>
              </a:spcAft>
              <a:buNone/>
            </a:pPr>
            <a:r>
              <a:rPr lang="en-GB" sz="1600" b="0" i="0" dirty="0">
                <a:solidFill>
                  <a:srgbClr val="5F6B7A"/>
                </a:solidFill>
                <a:latin typeface="Arial"/>
                <a:cs typeface="Arial"/>
              </a:rPr>
              <a:t>Wellcome Early-Career Award  |  355277/Z/26/Z  |  January 2027</a:t>
            </a:r>
            <a:endParaRPr lang="en-GB" sz="1600"/>
          </a:p>
        </p:txBody>
      </p:sp>
      <p:pic>
        <p:nvPicPr>
          <p:cNvPr id="7" name="Picture 7" descr="Photograph of pages 42 and 43 of a Northern Rhodesia medical report: Table 14, mission stations subsidised by government, listing in-patients and out-patients by station and missionary society, 1940 to 1946."/>
          <p:cNvPicPr>
            <a:picLocks noChangeAspect="1"/>
          </p:cNvPicPr>
          <p:nvPr/>
        </p:nvPicPr>
        <p:blipFill>
          <a:blip r:embed="rId10"/>
          <a:stretch>
            <a:fillRect/>
          </a:stretch>
        </p:blipFill>
        <p:spPr>
          <a:xfrm>
            <a:off x="7223760" y="914400"/>
            <a:ext cx="4416552" cy="3525012"/>
          </a:xfrm>
          <a:prstGeom prst="rect">
            <a:avLst/>
          </a:prstGeom>
          <a:ln w="9525">
            <a:solidFill>
              <a:srgbClr val="BFC5CE"/>
            </a:solidFill>
          </a:ln>
        </p:spPr>
      </p:pic>
      <p:sp>
        <p:nvSpPr>
          <p:cNvPr id="8" name="Shape 8"/>
          <p:cNvSpPr/>
          <p:nvPr/>
        </p:nvSpPr>
        <p:spPr>
          <a:xfrm>
            <a:off x="7223760" y="4526280"/>
            <a:ext cx="4416552" cy="822960"/>
          </a:xfrm>
          <a:prstGeom prst="rect">
            <a:avLst/>
          </a:prstGeom>
          <a:noFill/>
          <a:ln>
            <a:noFill/>
          </a:ln>
        </p:spPr>
        <p:txBody>
          <a:bodyPr wrap="square" lIns="0" tIns="0" rIns="0" bIns="0" anchor="t" rtlCol="0">
            <a:noAutofit/>
          </a:bodyPr>
          <a:lstStyle/>
          <a:p>
            <a:pPr algn="l">
              <a:lnSpc>
                <a:spcPct val="100000"/>
              </a:lnSpc>
              <a:spcAft>
                <a:spcPts val="600"/>
              </a:spcAft>
              <a:buNone/>
            </a:pPr>
            <a:r>
              <a:rPr lang="en-GB" sz="1400" b="0" i="0" dirty="0">
                <a:solidFill>
                  <a:srgbClr val="5F6B7A"/>
                </a:solidFill>
                <a:latin typeface="Arial"/>
                <a:cs typeface="Arial"/>
              </a:rPr>
              <a:t>Northern Rhodesia medical report, Table 14: mission stations subsidised by government, 1940 to 1946</a:t>
            </a:r>
            <a:endParaRPr lang="en-GB" sz="1400"/>
          </a:p>
        </p:txBody>
      </p:sp>
      <p:sp>
        <p:nvSpPr>
          <p:cNvPr id="9" name="Shape 9"/>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1</a:t>
            </a:r>
            <a:endParaRPr lang="en-GB"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Clinics are within reach, but many people don't use them</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2</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548640" y="1691640"/>
            <a:ext cx="5120640" cy="457200"/>
          </a:xfrm>
          <a:prstGeom prst="rect">
            <a:avLst/>
          </a:prstGeom>
          <a:noFill/>
          <a:ln>
            <a:noFill/>
          </a:ln>
        </p:spPr>
        <p:txBody>
          <a:bodyPr wrap="square" lIns="91440" tIns="45720" rIns="91440" bIns="45720" anchor="t" rtlCol="0">
            <a:noAutofit/>
          </a:bodyPr>
          <a:lstStyle/>
          <a:p>
            <a:pPr algn="l">
              <a:lnSpc>
                <a:spcPct val="100000"/>
              </a:lnSpc>
              <a:spcAft>
                <a:spcPts val="600"/>
              </a:spcAft>
              <a:buNone/>
            </a:pPr>
            <a:r>
              <a:rPr lang="en-GB" sz="2400" b="1" i="0" dirty="0">
                <a:solidFill>
                  <a:srgbClr val="1F2A44"/>
                </a:solidFill>
                <a:latin typeface="Arial"/>
                <a:cs typeface="Arial"/>
              </a:rPr>
              <a:t>The usual explanations</a:t>
            </a:r>
            <a:endParaRPr lang="en-GB" sz="2400"/>
          </a:p>
        </p:txBody>
      </p:sp>
      <p:sp>
        <p:nvSpPr>
          <p:cNvPr id="7" name="Shape 7"/>
          <p:cNvSpPr/>
          <p:nvPr/>
        </p:nvSpPr>
        <p:spPr>
          <a:xfrm>
            <a:off x="548640" y="2194560"/>
            <a:ext cx="5120640" cy="566928"/>
          </a:xfrm>
          <a:prstGeom prst="roundRect">
            <a:avLst/>
          </a:prstGeom>
          <a:solidFill>
            <a:srgbClr val="EEF1F5"/>
          </a:solidFill>
          <a:ln>
            <a:noFill/>
          </a:ln>
        </p:spPr>
        <p:txBody>
          <a:bodyPr wrap="square" lIns="91440" tIns="45720" rIns="91440" bIns="45720" anchor="ctr" rtlCol="0">
            <a:noAutofit/>
          </a:bodyPr>
          <a:lstStyle/>
          <a:p>
            <a:pPr algn="l">
              <a:lnSpc>
                <a:spcPct val="100000"/>
              </a:lnSpc>
              <a:spcAft>
                <a:spcPts val="600"/>
              </a:spcAft>
              <a:buNone/>
            </a:pPr>
            <a:r>
              <a:rPr lang="en-GB" sz="2400" b="0" i="0" dirty="0">
                <a:solidFill>
                  <a:srgbClr val="1F2A44"/>
                </a:solidFill>
                <a:latin typeface="Arial"/>
                <a:cs typeface="Arial"/>
              </a:rPr>
              <a:t>Poverty</a:t>
            </a:r>
            <a:endParaRPr lang="en-GB" sz="2400"/>
          </a:p>
        </p:txBody>
      </p:sp>
      <p:sp>
        <p:nvSpPr>
          <p:cNvPr id="8" name="Shape 8"/>
          <p:cNvSpPr/>
          <p:nvPr/>
        </p:nvSpPr>
        <p:spPr>
          <a:xfrm>
            <a:off x="548640" y="2834640"/>
            <a:ext cx="5120640" cy="566928"/>
          </a:xfrm>
          <a:prstGeom prst="roundRect">
            <a:avLst/>
          </a:prstGeom>
          <a:solidFill>
            <a:srgbClr val="EEF1F5"/>
          </a:solidFill>
          <a:ln>
            <a:noFill/>
          </a:ln>
        </p:spPr>
        <p:txBody>
          <a:bodyPr wrap="square" lIns="91440" tIns="45720" rIns="91440" bIns="45720" anchor="ctr" rtlCol="0">
            <a:noAutofit/>
          </a:bodyPr>
          <a:lstStyle/>
          <a:p>
            <a:pPr algn="l">
              <a:lnSpc>
                <a:spcPct val="100000"/>
              </a:lnSpc>
              <a:spcAft>
                <a:spcPts val="600"/>
              </a:spcAft>
              <a:buNone/>
            </a:pPr>
            <a:r>
              <a:rPr lang="en-GB" sz="2400" b="0" i="0" dirty="0">
                <a:solidFill>
                  <a:srgbClr val="1F2A44"/>
                </a:solidFill>
                <a:latin typeface="Arial"/>
                <a:cs typeface="Arial"/>
              </a:rPr>
              <a:t>Distance</a:t>
            </a:r>
            <a:endParaRPr lang="en-GB" sz="2400"/>
          </a:p>
        </p:txBody>
      </p:sp>
      <p:sp>
        <p:nvSpPr>
          <p:cNvPr id="9" name="Shape 9"/>
          <p:cNvSpPr/>
          <p:nvPr/>
        </p:nvSpPr>
        <p:spPr>
          <a:xfrm>
            <a:off x="548640" y="3474720"/>
            <a:ext cx="5120640" cy="566928"/>
          </a:xfrm>
          <a:prstGeom prst="roundRect">
            <a:avLst/>
          </a:prstGeom>
          <a:solidFill>
            <a:srgbClr val="EEF1F5"/>
          </a:solidFill>
          <a:ln>
            <a:noFill/>
          </a:ln>
        </p:spPr>
        <p:txBody>
          <a:bodyPr wrap="square" lIns="91440" tIns="45720" rIns="91440" bIns="45720" anchor="ctr" rtlCol="0">
            <a:noAutofit/>
          </a:bodyPr>
          <a:lstStyle/>
          <a:p>
            <a:pPr algn="l">
              <a:lnSpc>
                <a:spcPct val="100000"/>
              </a:lnSpc>
              <a:spcAft>
                <a:spcPts val="600"/>
              </a:spcAft>
              <a:buNone/>
            </a:pPr>
            <a:r>
              <a:rPr lang="en-GB" sz="2400" b="0" i="0" dirty="0">
                <a:solidFill>
                  <a:srgbClr val="1F2A44"/>
                </a:solidFill>
                <a:latin typeface="Arial"/>
                <a:cs typeface="Arial"/>
              </a:rPr>
              <a:t>Facility quality</a:t>
            </a:r>
            <a:endParaRPr lang="en-GB" sz="2400"/>
          </a:p>
        </p:txBody>
      </p:sp>
      <p:cxnSp>
        <p:nvCxnSpPr>
          <p:cNvPr id="10" name="Connector 10"/>
          <p:cNvCxnSpPr/>
          <p:nvPr/>
        </p:nvCxnSpPr>
        <p:spPr>
          <a:xfrm>
            <a:off x="3108960" y="4114800"/>
            <a:ext cx="0" cy="320040"/>
          </a:xfrm>
          <a:prstGeom prst="straightConnector1">
            <a:avLst/>
          </a:prstGeom>
          <a:ln w="28575">
            <a:solidFill>
              <a:srgbClr val="7F8C9A"/>
            </a:solidFill>
            <a:tailEnd type="triangle" w="med" len="med"/>
          </a:ln>
        </p:spPr>
      </p:cxnSp>
      <p:sp>
        <p:nvSpPr>
          <p:cNvPr id="11" name="Shape 11"/>
          <p:cNvSpPr/>
          <p:nvPr/>
        </p:nvSpPr>
        <p:spPr>
          <a:xfrm>
            <a:off x="548640" y="4480560"/>
            <a:ext cx="5120640" cy="685800"/>
          </a:xfrm>
          <a:prstGeom prst="rect">
            <a:avLst/>
          </a:prstGeom>
          <a:solidFill>
            <a:srgbClr val="FCEBD0"/>
          </a:solidFill>
          <a:ln>
            <a:noFill/>
          </a:ln>
        </p:spPr>
        <p:txBody>
          <a:bodyPr wrap="square" lIns="91440" tIns="45720" rIns="91440" bIns="45720" anchor="ctr" rtlCol="0">
            <a:noAutofit/>
          </a:bodyPr>
          <a:lstStyle/>
          <a:p>
            <a:pPr algn="l">
              <a:lnSpc>
                <a:spcPct val="100000"/>
              </a:lnSpc>
              <a:spcAft>
                <a:spcPts val="600"/>
              </a:spcAft>
              <a:buNone/>
            </a:pPr>
            <a:r>
              <a:rPr lang="en-GB" sz="2200" b="0" i="0" dirty="0">
                <a:solidFill>
                  <a:srgbClr val="1F2A44"/>
                </a:solidFill>
                <a:latin typeface="Arial"/>
                <a:cs typeface="Arial"/>
              </a:rPr>
              <a:t>...leave a gap: similar communities still differ in use</a:t>
            </a:r>
            <a:endParaRPr lang="en-GB" sz="2200"/>
          </a:p>
        </p:txBody>
      </p:sp>
      <p:sp>
        <p:nvSpPr>
          <p:cNvPr id="12" name="Shape 12"/>
          <p:cNvSpPr/>
          <p:nvPr/>
        </p:nvSpPr>
        <p:spPr>
          <a:xfrm>
            <a:off x="548640" y="5257800"/>
            <a:ext cx="5120640" cy="566928"/>
          </a:xfrm>
          <a:prstGeom prst="rect">
            <a:avLst/>
          </a:prstGeom>
          <a:solidFill>
            <a:srgbClr val="0072B2"/>
          </a:solidFill>
          <a:ln>
            <a:noFill/>
          </a:ln>
        </p:spPr>
        <p:txBody>
          <a:bodyPr wrap="square" lIns="91440" tIns="45720" rIns="91440" bIns="45720" anchor="ctr" rtlCol="0">
            <a:noAutofit/>
          </a:bodyPr>
          <a:lstStyle/>
          <a:p>
            <a:pPr algn="l">
              <a:lnSpc>
                <a:spcPct val="100000"/>
              </a:lnSpc>
              <a:spcAft>
                <a:spcPts val="600"/>
              </a:spcAft>
              <a:buNone/>
            </a:pPr>
            <a:r>
              <a:rPr lang="en-GB" sz="2200" b="1" i="0" dirty="0">
                <a:solidFill>
                  <a:srgbClr val="FFFFFF"/>
                </a:solidFill>
                <a:latin typeface="Arial"/>
                <a:cs typeface="Arial"/>
              </a:rPr>
              <a:t>Missing piece: why trust varies</a:t>
            </a:r>
            <a:endParaRPr lang="en-GB" sz="2200"/>
          </a:p>
        </p:txBody>
      </p:sp>
      <p:sp>
        <p:nvSpPr>
          <p:cNvPr id="13" name="Shape 13"/>
          <p:cNvSpPr/>
          <p:nvPr/>
        </p:nvSpPr>
        <p:spPr>
          <a:xfrm>
            <a:off x="6126480" y="1691640"/>
            <a:ext cx="5513832" cy="4133088"/>
          </a:xfrm>
          <a:prstGeom prst="rect">
            <a:avLst/>
          </a:prstGeom>
          <a:solidFill>
            <a:srgbClr val="F7F8FA"/>
          </a:solidFill>
          <a:ln w="19050">
            <a:solidFill>
              <a:srgbClr val="7F8C9A"/>
            </a:solidFill>
            <a:prstDash val="dash"/>
          </a:ln>
        </p:spPr>
        <p:txBody>
          <a:bodyPr wrap="square" lIns="91440" tIns="45720" rIns="91440" bIns="45720" anchor="ctr" rtlCol="0">
            <a:noAutofit/>
          </a:bodyPr>
          <a:lstStyle/>
          <a:p>
            <a:pPr algn="ctr">
              <a:lnSpc>
                <a:spcPct val="100000"/>
              </a:lnSpc>
              <a:spcAft>
                <a:spcPts val="600"/>
              </a:spcAft>
              <a:buNone/>
            </a:pPr>
            <a:r>
              <a:rPr lang="en-GB" sz="2000" b="0" i="1" dirty="0">
                <a:solidFill>
                  <a:srgbClr val="5F6B7A"/>
                </a:solidFill>
                <a:latin typeface="Arial"/>
                <a:cs typeface="Arial"/>
              </a:rPr>
              <a:t>[Insert map: within-country variation in facility births or DTP3 by DHS cluster, Zambia, with health facilities overlaid]</a:t>
            </a:r>
            <a:endParaRPr lang="en-GB" sz="2000"/>
          </a:p>
        </p:txBody>
      </p:sp>
      <p:sp>
        <p:nvSpPr>
          <p:cNvPr id="14" name="Shape 14"/>
          <p:cNvSpPr/>
          <p:nvPr/>
        </p:nvSpPr>
        <p:spPr>
          <a:xfrm>
            <a:off x="548640" y="5943600"/>
            <a:ext cx="11094415" cy="365760"/>
          </a:xfrm>
          <a:prstGeom prst="rect">
            <a:avLst/>
          </a:prstGeom>
          <a:noFill/>
          <a:ln>
            <a:noFill/>
          </a:ln>
        </p:spPr>
        <p:txBody>
          <a:bodyPr wrap="square" lIns="0" tIns="0" rIns="0" bIns="0" anchor="t" rtlCol="0">
            <a:noAutofit/>
          </a:bodyPr>
          <a:lstStyle/>
          <a:p>
            <a:pPr algn="l">
              <a:lnSpc>
                <a:spcPct val="100000"/>
              </a:lnSpc>
              <a:spcAft>
                <a:spcPts val="600"/>
              </a:spcAft>
              <a:buNone/>
            </a:pPr>
            <a:r>
              <a:rPr lang="en-GB" sz="1400" b="0" i="0" dirty="0">
                <a:solidFill>
                  <a:srgbClr val="5F6B7A"/>
                </a:solidFill>
                <a:latin typeface="Arial"/>
                <a:cs typeface="Arial"/>
              </a:rPr>
              <a:t>Sources: Peters et al. 2008; Ensor and Cooper 2004; Gilson 2003; Østergaard 2015; Weiss et al. 2019</a:t>
            </a:r>
            <a:endParaRPr lang="en-GB"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For decades, missionaries ran most of the Western healthcare Africans met</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3</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548640" y="1645920"/>
            <a:ext cx="5669280" cy="457200"/>
          </a:xfrm>
          <a:prstGeom prst="rect">
            <a:avLst/>
          </a:prstGeom>
          <a:noFill/>
          <a:ln>
            <a:noFill/>
          </a:ln>
        </p:spPr>
        <p:txBody>
          <a:bodyPr wrap="square" lIns="91440" tIns="45720" rIns="91440" bIns="45720" anchor="t" rtlCol="0">
            <a:noAutofit/>
          </a:bodyPr>
          <a:lstStyle/>
          <a:p>
            <a:pPr algn="l">
              <a:lnSpc>
                <a:spcPct val="100000"/>
              </a:lnSpc>
              <a:spcAft>
                <a:spcPts val="600"/>
              </a:spcAft>
              <a:buNone/>
            </a:pPr>
            <a:r>
              <a:rPr lang="en-GB" sz="2400" b="1" i="0" dirty="0">
                <a:solidFill>
                  <a:srgbClr val="1F2A44"/>
                </a:solidFill>
                <a:latin typeface="Arial"/>
                <a:cs typeface="Arial"/>
              </a:rPr>
              <a:t>Hospitals in Northern Rhodesia</a:t>
            </a:r>
            <a:endParaRPr lang="en-GB" sz="2400"/>
          </a:p>
        </p:txBody>
      </p:sp>
      <p:sp>
        <p:nvSpPr>
          <p:cNvPr id="7" name="Shape 7"/>
          <p:cNvSpPr/>
          <p:nvPr/>
        </p:nvSpPr>
        <p:spPr>
          <a:xfrm>
            <a:off x="822960" y="5098037"/>
            <a:ext cx="868680" cy="388363"/>
          </a:xfrm>
          <a:prstGeom prst="rect">
            <a:avLst/>
          </a:prstGeom>
          <a:solidFill>
            <a:srgbClr val="7F8C9A"/>
          </a:solidFill>
          <a:ln>
            <a:noFill/>
          </a:ln>
        </p:spPr>
        <p:txBody>
          <a:bodyPr wrap="square" lIns="91440" tIns="45720" rIns="91440" bIns="45720" anchor="t" rtlCol="0">
            <a:noAutofit/>
          </a:bodyPr>
          <a:lstStyle/>
          <a:p>
            <a:endParaRPr lang="en-GB" sz="1200"/>
          </a:p>
        </p:txBody>
      </p:sp>
      <p:sp>
        <p:nvSpPr>
          <p:cNvPr id="8" name="Shape 8"/>
          <p:cNvSpPr/>
          <p:nvPr/>
        </p:nvSpPr>
        <p:spPr>
          <a:xfrm>
            <a:off x="640080" y="4640837"/>
            <a:ext cx="1234440" cy="411480"/>
          </a:xfrm>
          <a:prstGeom prst="rect">
            <a:avLst/>
          </a:prstGeom>
          <a:noFill/>
          <a:ln>
            <a:noFill/>
          </a:ln>
        </p:spPr>
        <p:txBody>
          <a:bodyPr wrap="square" lIns="91440" tIns="45720" rIns="91440" bIns="45720" anchor="t" rtlCol="0">
            <a:noAutofit/>
          </a:bodyPr>
          <a:lstStyle/>
          <a:p>
            <a:pPr algn="ctr">
              <a:lnSpc>
                <a:spcPct val="100000"/>
              </a:lnSpc>
              <a:spcAft>
                <a:spcPts val="600"/>
              </a:spcAft>
              <a:buNone/>
            </a:pPr>
            <a:r>
              <a:rPr lang="en-GB" sz="2400" b="1" i="0" dirty="0">
                <a:solidFill>
                  <a:srgbClr val="1F2A44"/>
                </a:solidFill>
                <a:latin typeface="Arial"/>
                <a:cs typeface="Arial"/>
              </a:rPr>
              <a:t>12</a:t>
            </a:r>
            <a:endParaRPr lang="en-GB" sz="2400"/>
          </a:p>
        </p:txBody>
      </p:sp>
      <p:sp>
        <p:nvSpPr>
          <p:cNvPr id="9" name="Shape 9"/>
          <p:cNvSpPr/>
          <p:nvPr/>
        </p:nvSpPr>
        <p:spPr>
          <a:xfrm>
            <a:off x="1783080" y="4644947"/>
            <a:ext cx="868680" cy="841453"/>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10" name="Shape 10"/>
          <p:cNvSpPr/>
          <p:nvPr/>
        </p:nvSpPr>
        <p:spPr>
          <a:xfrm>
            <a:off x="1600200" y="4187747"/>
            <a:ext cx="1234440" cy="411480"/>
          </a:xfrm>
          <a:prstGeom prst="rect">
            <a:avLst/>
          </a:prstGeom>
          <a:noFill/>
          <a:ln>
            <a:noFill/>
          </a:ln>
        </p:spPr>
        <p:txBody>
          <a:bodyPr wrap="square" lIns="91440" tIns="45720" rIns="91440" bIns="45720" anchor="t" rtlCol="0">
            <a:noAutofit/>
          </a:bodyPr>
          <a:lstStyle/>
          <a:p>
            <a:pPr algn="ctr">
              <a:lnSpc>
                <a:spcPct val="100000"/>
              </a:lnSpc>
              <a:spcAft>
                <a:spcPts val="600"/>
              </a:spcAft>
              <a:buNone/>
            </a:pPr>
            <a:r>
              <a:rPr lang="en-GB" sz="2400" b="1" i="0" dirty="0">
                <a:solidFill>
                  <a:srgbClr val="1F2A44"/>
                </a:solidFill>
                <a:latin typeface="Arial"/>
                <a:cs typeface="Arial"/>
              </a:rPr>
              <a:t>26</a:t>
            </a:r>
            <a:endParaRPr lang="en-GB" sz="2400"/>
          </a:p>
        </p:txBody>
      </p:sp>
      <p:sp>
        <p:nvSpPr>
          <p:cNvPr id="11" name="Shape 11"/>
          <p:cNvSpPr/>
          <p:nvPr/>
        </p:nvSpPr>
        <p:spPr>
          <a:xfrm>
            <a:off x="822960" y="5532120"/>
            <a:ext cx="1828800" cy="411480"/>
          </a:xfrm>
          <a:prstGeom prst="rect">
            <a:avLst/>
          </a:prstGeom>
          <a:noFill/>
          <a:ln>
            <a:noFill/>
          </a:ln>
        </p:spPr>
        <p:txBody>
          <a:bodyPr wrap="square" lIns="91440" tIns="45720" rIns="91440" bIns="45720" anchor="t" rtlCol="0">
            <a:noAutofit/>
          </a:bodyPr>
          <a:lstStyle/>
          <a:p>
            <a:pPr algn="ctr">
              <a:lnSpc>
                <a:spcPct val="100000"/>
              </a:lnSpc>
              <a:spcAft>
                <a:spcPts val="600"/>
              </a:spcAft>
              <a:buNone/>
            </a:pPr>
            <a:r>
              <a:rPr lang="en-GB" sz="2200" b="1" i="0" dirty="0">
                <a:solidFill>
                  <a:srgbClr val="1F2A44"/>
                </a:solidFill>
                <a:latin typeface="Arial"/>
                <a:cs typeface="Arial"/>
              </a:rPr>
              <a:t>1933</a:t>
            </a:r>
            <a:endParaRPr lang="en-GB" sz="2200"/>
          </a:p>
        </p:txBody>
      </p:sp>
      <p:sp>
        <p:nvSpPr>
          <p:cNvPr id="12" name="Shape 12"/>
          <p:cNvSpPr/>
          <p:nvPr/>
        </p:nvSpPr>
        <p:spPr>
          <a:xfrm>
            <a:off x="3566160" y="5098037"/>
            <a:ext cx="868680" cy="388363"/>
          </a:xfrm>
          <a:prstGeom prst="rect">
            <a:avLst/>
          </a:prstGeom>
          <a:solidFill>
            <a:srgbClr val="7F8C9A"/>
          </a:solidFill>
          <a:ln>
            <a:noFill/>
          </a:ln>
        </p:spPr>
        <p:txBody>
          <a:bodyPr wrap="square" lIns="91440" tIns="45720" rIns="91440" bIns="45720" anchor="t" rtlCol="0">
            <a:noAutofit/>
          </a:bodyPr>
          <a:lstStyle/>
          <a:p>
            <a:endParaRPr lang="en-GB" sz="1200"/>
          </a:p>
        </p:txBody>
      </p:sp>
      <p:sp>
        <p:nvSpPr>
          <p:cNvPr id="13" name="Shape 13"/>
          <p:cNvSpPr/>
          <p:nvPr/>
        </p:nvSpPr>
        <p:spPr>
          <a:xfrm>
            <a:off x="3383280" y="4640837"/>
            <a:ext cx="1234440" cy="411480"/>
          </a:xfrm>
          <a:prstGeom prst="rect">
            <a:avLst/>
          </a:prstGeom>
          <a:noFill/>
          <a:ln>
            <a:noFill/>
          </a:ln>
        </p:spPr>
        <p:txBody>
          <a:bodyPr wrap="square" lIns="91440" tIns="45720" rIns="91440" bIns="45720" anchor="t" rtlCol="0">
            <a:noAutofit/>
          </a:bodyPr>
          <a:lstStyle/>
          <a:p>
            <a:pPr algn="ctr">
              <a:lnSpc>
                <a:spcPct val="100000"/>
              </a:lnSpc>
              <a:spcAft>
                <a:spcPts val="600"/>
              </a:spcAft>
              <a:buNone/>
            </a:pPr>
            <a:r>
              <a:rPr lang="en-GB" sz="2400" b="1" i="0" dirty="0">
                <a:solidFill>
                  <a:srgbClr val="1F2A44"/>
                </a:solidFill>
                <a:latin typeface="Arial"/>
                <a:cs typeface="Arial"/>
              </a:rPr>
              <a:t>12</a:t>
            </a:r>
            <a:endParaRPr lang="en-GB" sz="2400"/>
          </a:p>
        </p:txBody>
      </p:sp>
      <p:sp>
        <p:nvSpPr>
          <p:cNvPr id="14" name="Shape 14"/>
          <p:cNvSpPr/>
          <p:nvPr/>
        </p:nvSpPr>
        <p:spPr>
          <a:xfrm>
            <a:off x="4526280" y="2606040"/>
            <a:ext cx="868680" cy="2880360"/>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15" name="Shape 15"/>
          <p:cNvSpPr/>
          <p:nvPr/>
        </p:nvSpPr>
        <p:spPr>
          <a:xfrm>
            <a:off x="4343400" y="2148840"/>
            <a:ext cx="1234440" cy="411480"/>
          </a:xfrm>
          <a:prstGeom prst="rect">
            <a:avLst/>
          </a:prstGeom>
          <a:noFill/>
          <a:ln>
            <a:noFill/>
          </a:ln>
        </p:spPr>
        <p:txBody>
          <a:bodyPr wrap="square" lIns="91440" tIns="45720" rIns="91440" bIns="45720" anchor="t" rtlCol="0">
            <a:noAutofit/>
          </a:bodyPr>
          <a:lstStyle/>
          <a:p>
            <a:pPr algn="ctr">
              <a:lnSpc>
                <a:spcPct val="100000"/>
              </a:lnSpc>
              <a:spcAft>
                <a:spcPts val="600"/>
              </a:spcAft>
              <a:buNone/>
            </a:pPr>
            <a:r>
              <a:rPr lang="en-GB" sz="2400" b="1" i="0" dirty="0">
                <a:solidFill>
                  <a:srgbClr val="1F2A44"/>
                </a:solidFill>
                <a:latin typeface="Arial"/>
                <a:cs typeface="Arial"/>
              </a:rPr>
              <a:t>89</a:t>
            </a:r>
            <a:endParaRPr lang="en-GB" sz="2400"/>
          </a:p>
        </p:txBody>
      </p:sp>
      <p:sp>
        <p:nvSpPr>
          <p:cNvPr id="16" name="Shape 16"/>
          <p:cNvSpPr/>
          <p:nvPr/>
        </p:nvSpPr>
        <p:spPr>
          <a:xfrm>
            <a:off x="3566160" y="5532120"/>
            <a:ext cx="1828800" cy="411480"/>
          </a:xfrm>
          <a:prstGeom prst="rect">
            <a:avLst/>
          </a:prstGeom>
          <a:noFill/>
          <a:ln>
            <a:noFill/>
          </a:ln>
        </p:spPr>
        <p:txBody>
          <a:bodyPr wrap="square" lIns="91440" tIns="45720" rIns="91440" bIns="45720" anchor="t" rtlCol="0">
            <a:noAutofit/>
          </a:bodyPr>
          <a:lstStyle/>
          <a:p>
            <a:pPr algn="ctr">
              <a:lnSpc>
                <a:spcPct val="100000"/>
              </a:lnSpc>
              <a:spcAft>
                <a:spcPts val="600"/>
              </a:spcAft>
              <a:buNone/>
            </a:pPr>
            <a:r>
              <a:rPr lang="en-GB" sz="2200" b="1" i="0" dirty="0">
                <a:solidFill>
                  <a:srgbClr val="1F2A44"/>
                </a:solidFill>
                <a:latin typeface="Arial"/>
                <a:cs typeface="Arial"/>
              </a:rPr>
              <a:t>1953</a:t>
            </a:r>
            <a:endParaRPr lang="en-GB" sz="2200"/>
          </a:p>
        </p:txBody>
      </p:sp>
      <p:cxnSp>
        <p:nvCxnSpPr>
          <p:cNvPr id="17" name="Connector 17"/>
          <p:cNvCxnSpPr/>
          <p:nvPr/>
        </p:nvCxnSpPr>
        <p:spPr>
          <a:xfrm>
            <a:off x="685800" y="5486400"/>
            <a:ext cx="5349240" cy="0"/>
          </a:xfrm>
          <a:prstGeom prst="straightConnector1">
            <a:avLst/>
          </a:prstGeom>
          <a:ln w="19050">
            <a:solidFill>
              <a:srgbClr val="1F2A44"/>
            </a:solidFill>
          </a:ln>
        </p:spPr>
      </p:cxnSp>
      <p:sp>
        <p:nvSpPr>
          <p:cNvPr id="18" name="Shape 18"/>
          <p:cNvSpPr/>
          <p:nvPr/>
        </p:nvSpPr>
        <p:spPr>
          <a:xfrm>
            <a:off x="868680" y="2715768"/>
            <a:ext cx="256032" cy="256032"/>
          </a:xfrm>
          <a:prstGeom prst="rect">
            <a:avLst/>
          </a:prstGeom>
          <a:solidFill>
            <a:srgbClr val="7F8C9A"/>
          </a:solidFill>
          <a:ln>
            <a:noFill/>
          </a:ln>
        </p:spPr>
        <p:txBody>
          <a:bodyPr wrap="square" lIns="91440" tIns="45720" rIns="91440" bIns="45720" anchor="t" rtlCol="0">
            <a:noAutofit/>
          </a:bodyPr>
          <a:lstStyle/>
          <a:p>
            <a:endParaRPr lang="en-GB" sz="1200"/>
          </a:p>
        </p:txBody>
      </p:sp>
      <p:sp>
        <p:nvSpPr>
          <p:cNvPr id="19" name="Shape 19"/>
          <p:cNvSpPr/>
          <p:nvPr/>
        </p:nvSpPr>
        <p:spPr>
          <a:xfrm>
            <a:off x="1161288" y="2606040"/>
            <a:ext cx="3291840" cy="457200"/>
          </a:xfrm>
          <a:prstGeom prst="rect">
            <a:avLst/>
          </a:prstGeom>
          <a:noFill/>
          <a:ln>
            <a:noFill/>
          </a:ln>
        </p:spPr>
        <p:txBody>
          <a:bodyPr wrap="square" lIns="91440" tIns="45720" rIns="91440" bIns="45720" anchor="t" rtlCol="0">
            <a:noAutofit/>
          </a:bodyPr>
          <a:lstStyle/>
          <a:p>
            <a:pPr algn="l">
              <a:lnSpc>
                <a:spcPct val="100000"/>
              </a:lnSpc>
              <a:spcAft>
                <a:spcPts val="600"/>
              </a:spcAft>
              <a:buNone/>
            </a:pPr>
            <a:r>
              <a:rPr lang="en-GB" sz="1800" b="0" i="0" dirty="0">
                <a:solidFill>
                  <a:srgbClr val="1F2A44"/>
                </a:solidFill>
                <a:latin typeface="Arial"/>
                <a:cs typeface="Arial"/>
              </a:rPr>
              <a:t>Government (for Africans)</a:t>
            </a:r>
            <a:endParaRPr lang="en-GB" sz="1800"/>
          </a:p>
        </p:txBody>
      </p:sp>
      <p:sp>
        <p:nvSpPr>
          <p:cNvPr id="20" name="Shape 20"/>
          <p:cNvSpPr/>
          <p:nvPr/>
        </p:nvSpPr>
        <p:spPr>
          <a:xfrm>
            <a:off x="868680" y="3127248"/>
            <a:ext cx="256032" cy="256032"/>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21" name="Shape 21"/>
          <p:cNvSpPr/>
          <p:nvPr/>
        </p:nvSpPr>
        <p:spPr>
          <a:xfrm>
            <a:off x="1161288" y="3017520"/>
            <a:ext cx="3291840" cy="457200"/>
          </a:xfrm>
          <a:prstGeom prst="rect">
            <a:avLst/>
          </a:prstGeom>
          <a:noFill/>
          <a:ln>
            <a:noFill/>
          </a:ln>
        </p:spPr>
        <p:txBody>
          <a:bodyPr wrap="square" lIns="91440" tIns="45720" rIns="91440" bIns="45720" anchor="t" rtlCol="0">
            <a:noAutofit/>
          </a:bodyPr>
          <a:lstStyle/>
          <a:p>
            <a:pPr algn="l">
              <a:lnSpc>
                <a:spcPct val="100000"/>
              </a:lnSpc>
              <a:spcAft>
                <a:spcPts val="600"/>
              </a:spcAft>
              <a:buNone/>
            </a:pPr>
            <a:r>
              <a:rPr lang="en-GB" sz="1800" b="0" i="0" dirty="0">
                <a:solidFill>
                  <a:srgbClr val="1F2A44"/>
                </a:solidFill>
                <a:latin typeface="Arial"/>
                <a:cs typeface="Arial"/>
              </a:rPr>
              <a:t>Mission hospitals</a:t>
            </a:r>
            <a:endParaRPr lang="en-GB" sz="1800"/>
          </a:p>
        </p:txBody>
      </p:sp>
      <p:sp>
        <p:nvSpPr>
          <p:cNvPr id="22" name="Shape 22"/>
          <p:cNvSpPr/>
          <p:nvPr/>
        </p:nvSpPr>
        <p:spPr>
          <a:xfrm>
            <a:off x="6675120" y="1691640"/>
            <a:ext cx="4965192" cy="1417320"/>
          </a:xfrm>
          <a:prstGeom prst="rect">
            <a:avLst/>
          </a:prstGeom>
          <a:solidFill>
            <a:srgbClr val="FCEBD0"/>
          </a:solidFill>
          <a:ln>
            <a:noFill/>
          </a:ln>
        </p:spPr>
        <p:txBody>
          <a:bodyPr wrap="square" lIns="137160" tIns="68580" rIns="137160" bIns="68580" anchor="t" rtlCol="0">
            <a:noAutofit/>
          </a:bodyPr>
          <a:lstStyle/>
          <a:p>
            <a:pPr algn="l">
              <a:lnSpc>
                <a:spcPct val="100000"/>
              </a:lnSpc>
              <a:spcAft>
                <a:spcPts val="400"/>
              </a:spcAft>
              <a:buNone/>
            </a:pPr>
            <a:r>
              <a:rPr lang="en-GB" sz="2400" b="1" i="0" dirty="0">
                <a:solidFill>
                  <a:srgbClr val="1F2A44"/>
                </a:solidFill>
                <a:latin typeface="Arial"/>
                <a:cs typeface="Arial"/>
              </a:rPr>
              <a:t>Trust deficit</a:t>
            </a:r>
            <a:endParaRPr lang="en-GB" sz="2400"/>
          </a:p>
          <a:p>
            <a:pPr algn="l">
              <a:lnSpc>
                <a:spcPct val="100000"/>
              </a:lnSpc>
              <a:spcAft>
                <a:spcPts val="600"/>
              </a:spcAft>
              <a:buNone/>
            </a:pPr>
            <a:r>
              <a:rPr lang="en-GB" sz="2000" b="0" i="0" dirty="0">
                <a:solidFill>
                  <a:srgbClr val="1F2A44"/>
                </a:solidFill>
                <a:latin typeface="Arial"/>
                <a:cs typeface="Arial"/>
              </a:rPr>
              <a:t>Coercive colonial medical campaigns in central Africa still lower trust and vaccination (Lowes and Montero 2021)</a:t>
            </a:r>
            <a:endParaRPr lang="en-GB" sz="2000"/>
          </a:p>
        </p:txBody>
      </p:sp>
      <p:sp>
        <p:nvSpPr>
          <p:cNvPr id="23" name="Shape 23"/>
          <p:cNvSpPr/>
          <p:nvPr/>
        </p:nvSpPr>
        <p:spPr>
          <a:xfrm>
            <a:off x="6675120" y="3246120"/>
            <a:ext cx="4965192" cy="1417320"/>
          </a:xfrm>
          <a:prstGeom prst="rect">
            <a:avLst/>
          </a:prstGeom>
          <a:solidFill>
            <a:srgbClr val="D9F0E8"/>
          </a:solidFill>
          <a:ln>
            <a:noFill/>
          </a:ln>
        </p:spPr>
        <p:txBody>
          <a:bodyPr wrap="square" lIns="137160" tIns="68580" rIns="137160" bIns="68580" anchor="t" rtlCol="0">
            <a:noAutofit/>
          </a:bodyPr>
          <a:lstStyle/>
          <a:p>
            <a:pPr algn="l">
              <a:lnSpc>
                <a:spcPct val="100000"/>
              </a:lnSpc>
              <a:spcAft>
                <a:spcPts val="400"/>
              </a:spcAft>
              <a:buNone/>
            </a:pPr>
            <a:r>
              <a:rPr lang="en-GB" sz="2400" b="1" i="0" dirty="0">
                <a:solidFill>
                  <a:srgbClr val="1F2A44"/>
                </a:solidFill>
                <a:latin typeface="Arial"/>
                <a:cs typeface="Arial"/>
              </a:rPr>
              <a:t>Trust dividend</a:t>
            </a:r>
            <a:endParaRPr lang="en-GB" sz="2400"/>
          </a:p>
          <a:p>
            <a:pPr algn="l">
              <a:lnSpc>
                <a:spcPct val="100000"/>
              </a:lnSpc>
              <a:spcAft>
                <a:spcPts val="600"/>
              </a:spcAft>
              <a:buNone/>
            </a:pPr>
            <a:r>
              <a:rPr lang="en-GB" sz="2000" b="0" i="0" dirty="0">
                <a:solidFill>
                  <a:srgbClr val="1F2A44"/>
                </a:solidFill>
                <a:latin typeface="Arial"/>
                <a:cs typeface="Arial"/>
              </a:rPr>
              <a:t>Living near a colonial medical mission in India still predicts better health (Calvi and Mantovanelli 2018)</a:t>
            </a:r>
            <a:endParaRPr lang="en-GB" sz="2000"/>
          </a:p>
        </p:txBody>
      </p:sp>
      <p:sp>
        <p:nvSpPr>
          <p:cNvPr id="24" name="Shape 24"/>
          <p:cNvSpPr/>
          <p:nvPr/>
        </p:nvSpPr>
        <p:spPr>
          <a:xfrm>
            <a:off x="6675120" y="4800600"/>
            <a:ext cx="4965192" cy="1051560"/>
          </a:xfrm>
          <a:prstGeom prst="rect">
            <a:avLst/>
          </a:prstGeom>
          <a:solidFill>
            <a:srgbClr val="1F2A44"/>
          </a:solidFill>
          <a:ln>
            <a:noFill/>
          </a:ln>
        </p:spPr>
        <p:txBody>
          <a:bodyPr wrap="square" lIns="137160" tIns="68580" rIns="137160" bIns="68580" anchor="ctr" rtlCol="0">
            <a:noAutofit/>
          </a:bodyPr>
          <a:lstStyle/>
          <a:p>
            <a:pPr algn="l">
              <a:lnSpc>
                <a:spcPct val="100000"/>
              </a:lnSpc>
              <a:spcAft>
                <a:spcPts val="600"/>
              </a:spcAft>
              <a:buNone/>
            </a:pPr>
            <a:r>
              <a:rPr lang="en-GB" sz="2200" b="1" i="0" dirty="0">
                <a:solidFill>
                  <a:srgbClr val="FFFFFF"/>
                </a:solidFill>
                <a:latin typeface="Arial"/>
                <a:cs typeface="Arial"/>
              </a:rPr>
              <a:t>My hypothesis: mission medicine left a dividend in some places and a deficit in others</a:t>
            </a:r>
            <a:endParaRPr lang="en-GB" sz="2200"/>
          </a:p>
        </p:txBody>
      </p:sp>
      <p:sp>
        <p:nvSpPr>
          <p:cNvPr id="25" name="Shape 25"/>
          <p:cNvSpPr/>
          <p:nvPr/>
        </p:nvSpPr>
        <p:spPr>
          <a:xfrm>
            <a:off x="548640" y="5943600"/>
            <a:ext cx="11094415" cy="365760"/>
          </a:xfrm>
          <a:prstGeom prst="rect">
            <a:avLst/>
          </a:prstGeom>
          <a:noFill/>
          <a:ln>
            <a:noFill/>
          </a:ln>
        </p:spPr>
        <p:txBody>
          <a:bodyPr wrap="square" lIns="0" tIns="0" rIns="0" bIns="0" anchor="t" rtlCol="0">
            <a:noAutofit/>
          </a:bodyPr>
          <a:lstStyle/>
          <a:p>
            <a:pPr algn="l">
              <a:lnSpc>
                <a:spcPct val="100000"/>
              </a:lnSpc>
              <a:spcAft>
                <a:spcPts val="600"/>
              </a:spcAft>
              <a:buNone/>
            </a:pPr>
            <a:r>
              <a:rPr lang="en-GB" sz="1400" b="0" i="0" dirty="0">
                <a:solidFill>
                  <a:srgbClr val="5F6B7A"/>
                </a:solidFill>
                <a:latin typeface="Arial"/>
                <a:cs typeface="Arial"/>
              </a:rPr>
              <a:t>Source for chart: Chiseni (2025), African Studies 84(1-2), Figure 3 and text</a:t>
            </a:r>
            <a:endParaRPr lang="en-GB"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Four questions, one causal chain</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4</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548640" y="1645920"/>
            <a:ext cx="11064240" cy="548640"/>
          </a:xfrm>
          <a:prstGeom prst="rect">
            <a:avLst/>
          </a:prstGeom>
          <a:solidFill>
            <a:srgbClr val="F7F8FA"/>
          </a:solidFill>
          <a:ln w="12700">
            <a:solidFill>
              <a:srgbClr val="7F8C9A"/>
            </a:solidFill>
            <a:prstDash val="dash"/>
          </a:ln>
        </p:spPr>
        <p:txBody>
          <a:bodyPr wrap="square" lIns="91440" tIns="45720" rIns="91440" bIns="45720" anchor="ctr" rtlCol="0">
            <a:noAutofit/>
          </a:bodyPr>
          <a:lstStyle/>
          <a:p>
            <a:pPr algn="ctr">
              <a:lnSpc>
                <a:spcPct val="100000"/>
              </a:lnSpc>
              <a:spcAft>
                <a:spcPts val="600"/>
              </a:spcAft>
              <a:buNone/>
            </a:pPr>
            <a:r>
              <a:rPr lang="en-GB" sz="2000" b="0" i="0" dirty="0">
                <a:solidFill>
                  <a:srgbClr val="1F2A44"/>
                </a:solidFill>
                <a:latin typeface="Arial"/>
                <a:cs typeface="Arial"/>
              </a:rPr>
              <a:t>I control for where missions chose to go and where the state built hospitals</a:t>
            </a:r>
            <a:endParaRPr lang="en-GB" sz="2000"/>
          </a:p>
        </p:txBody>
      </p:sp>
      <p:sp>
        <p:nvSpPr>
          <p:cNvPr id="7" name="Shape 7"/>
          <p:cNvSpPr/>
          <p:nvPr/>
        </p:nvSpPr>
        <p:spPr>
          <a:xfrm>
            <a:off x="548640" y="2514600"/>
            <a:ext cx="2423160" cy="1097280"/>
          </a:xfrm>
          <a:prstGeom prst="roundRect">
            <a:avLst/>
          </a:prstGeom>
          <a:solidFill>
            <a:srgbClr val="1F2A44"/>
          </a:solidFill>
          <a:ln>
            <a:noFill/>
          </a:ln>
        </p:spPr>
        <p:txBody>
          <a:bodyPr wrap="square" lIns="91440" tIns="45720" rIns="91440" bIns="45720" anchor="ctr" rtlCol="0">
            <a:noAutofit/>
          </a:bodyPr>
          <a:lstStyle/>
          <a:p>
            <a:pPr algn="ctr">
              <a:lnSpc>
                <a:spcPct val="100000"/>
              </a:lnSpc>
              <a:spcAft>
                <a:spcPts val="600"/>
              </a:spcAft>
              <a:buNone/>
            </a:pPr>
            <a:r>
              <a:rPr lang="en-GB" sz="2200" b="1" i="0" dirty="0">
                <a:solidFill>
                  <a:srgbClr val="FFFFFF"/>
                </a:solidFill>
                <a:latin typeface="Arial"/>
                <a:cs typeface="Arial"/>
              </a:rPr>
              <a:t>Mission medical exposure, 1890s to 1950s</a:t>
            </a:r>
            <a:endParaRPr lang="en-GB" sz="2200"/>
          </a:p>
        </p:txBody>
      </p:sp>
      <p:sp>
        <p:nvSpPr>
          <p:cNvPr id="8" name="Shape 8"/>
          <p:cNvSpPr/>
          <p:nvPr/>
        </p:nvSpPr>
        <p:spPr>
          <a:xfrm>
            <a:off x="3429000" y="2514600"/>
            <a:ext cx="2423160" cy="1097280"/>
          </a:xfrm>
          <a:prstGeom prst="roundRect">
            <a:avLst/>
          </a:prstGeom>
          <a:solidFill>
            <a:srgbClr val="0072B2"/>
          </a:solidFill>
          <a:ln>
            <a:noFill/>
          </a:ln>
        </p:spPr>
        <p:txBody>
          <a:bodyPr wrap="square" lIns="91440" tIns="45720" rIns="91440" bIns="45720" anchor="ctr" rtlCol="0">
            <a:noAutofit/>
          </a:bodyPr>
          <a:lstStyle/>
          <a:p>
            <a:pPr algn="ctr">
              <a:lnSpc>
                <a:spcPct val="100000"/>
              </a:lnSpc>
              <a:spcAft>
                <a:spcPts val="600"/>
              </a:spcAft>
              <a:buNone/>
            </a:pPr>
            <a:r>
              <a:rPr lang="en-GB" sz="2200" b="1" i="0" dirty="0">
                <a:solidFill>
                  <a:srgbClr val="FFFFFF"/>
                </a:solidFill>
                <a:latin typeface="Arial"/>
                <a:cs typeface="Arial"/>
              </a:rPr>
              <a:t>Institutional trust</a:t>
            </a:r>
            <a:endParaRPr lang="en-GB" sz="2200"/>
          </a:p>
        </p:txBody>
      </p:sp>
      <p:sp>
        <p:nvSpPr>
          <p:cNvPr id="9" name="Shape 9"/>
          <p:cNvSpPr/>
          <p:nvPr/>
        </p:nvSpPr>
        <p:spPr>
          <a:xfrm>
            <a:off x="6309360" y="2514600"/>
            <a:ext cx="2423160" cy="1097280"/>
          </a:xfrm>
          <a:prstGeom prst="roundRect">
            <a:avLst/>
          </a:prstGeom>
          <a:solidFill>
            <a:srgbClr val="DCEBF7"/>
          </a:solidFill>
          <a:ln>
            <a:noFill/>
          </a:ln>
        </p:spPr>
        <p:txBody>
          <a:bodyPr wrap="square" lIns="91440" tIns="45720" rIns="91440" bIns="45720" anchor="ctr" rtlCol="0">
            <a:noAutofit/>
          </a:bodyPr>
          <a:lstStyle/>
          <a:p>
            <a:pPr algn="ctr">
              <a:lnSpc>
                <a:spcPct val="100000"/>
              </a:lnSpc>
              <a:spcAft>
                <a:spcPts val="600"/>
              </a:spcAft>
              <a:buNone/>
            </a:pPr>
            <a:r>
              <a:rPr lang="en-GB" sz="2200" b="1" i="0" dirty="0">
                <a:solidFill>
                  <a:srgbClr val="1F2A44"/>
                </a:solidFill>
                <a:latin typeface="Arial"/>
                <a:cs typeface="Arial"/>
              </a:rPr>
              <a:t>Health-seeking</a:t>
            </a:r>
            <a:endParaRPr lang="en-GB" sz="2200"/>
          </a:p>
        </p:txBody>
      </p:sp>
      <p:sp>
        <p:nvSpPr>
          <p:cNvPr id="10" name="Shape 10"/>
          <p:cNvSpPr/>
          <p:nvPr/>
        </p:nvSpPr>
        <p:spPr>
          <a:xfrm>
            <a:off x="9189720" y="2514600"/>
            <a:ext cx="2423160" cy="1097280"/>
          </a:xfrm>
          <a:prstGeom prst="roundRect">
            <a:avLst/>
          </a:prstGeom>
          <a:solidFill>
            <a:srgbClr val="E69F00"/>
          </a:solidFill>
          <a:ln>
            <a:noFill/>
          </a:ln>
        </p:spPr>
        <p:txBody>
          <a:bodyPr wrap="square" lIns="91440" tIns="45720" rIns="91440" bIns="45720" anchor="ctr" rtlCol="0">
            <a:noAutofit/>
          </a:bodyPr>
          <a:lstStyle/>
          <a:p>
            <a:pPr algn="ctr">
              <a:lnSpc>
                <a:spcPct val="100000"/>
              </a:lnSpc>
              <a:spcAft>
                <a:spcPts val="600"/>
              </a:spcAft>
              <a:buNone/>
            </a:pPr>
            <a:r>
              <a:rPr lang="en-GB" sz="2200" b="1" i="0" dirty="0">
                <a:solidFill>
                  <a:srgbClr val="1F2A44"/>
                </a:solidFill>
                <a:latin typeface="Arial"/>
                <a:cs typeface="Arial"/>
              </a:rPr>
              <a:t>Disease burden</a:t>
            </a:r>
            <a:endParaRPr lang="en-GB" sz="2200"/>
          </a:p>
        </p:txBody>
      </p:sp>
      <p:cxnSp>
        <p:nvCxnSpPr>
          <p:cNvPr id="11" name="Connector 11"/>
          <p:cNvCxnSpPr/>
          <p:nvPr/>
        </p:nvCxnSpPr>
        <p:spPr>
          <a:xfrm>
            <a:off x="2999232" y="3063240"/>
            <a:ext cx="402336" cy="0"/>
          </a:xfrm>
          <a:prstGeom prst="straightConnector1">
            <a:avLst/>
          </a:prstGeom>
          <a:ln w="38100">
            <a:solidFill>
              <a:srgbClr val="1F2A44"/>
            </a:solidFill>
            <a:tailEnd type="triangle" w="med" len="med"/>
          </a:ln>
        </p:spPr>
      </p:cxnSp>
      <p:cxnSp>
        <p:nvCxnSpPr>
          <p:cNvPr id="12" name="Connector 12"/>
          <p:cNvCxnSpPr/>
          <p:nvPr/>
        </p:nvCxnSpPr>
        <p:spPr>
          <a:xfrm>
            <a:off x="5879592" y="3063240"/>
            <a:ext cx="402336" cy="0"/>
          </a:xfrm>
          <a:prstGeom prst="straightConnector1">
            <a:avLst/>
          </a:prstGeom>
          <a:ln w="38100">
            <a:solidFill>
              <a:srgbClr val="1F2A44"/>
            </a:solidFill>
            <a:tailEnd type="triangle" w="med" len="med"/>
          </a:ln>
        </p:spPr>
      </p:cxnSp>
      <p:cxnSp>
        <p:nvCxnSpPr>
          <p:cNvPr id="13" name="Connector 13"/>
          <p:cNvCxnSpPr/>
          <p:nvPr/>
        </p:nvCxnSpPr>
        <p:spPr>
          <a:xfrm>
            <a:off x="8759952" y="3063240"/>
            <a:ext cx="402336" cy="0"/>
          </a:xfrm>
          <a:prstGeom prst="straightConnector1">
            <a:avLst/>
          </a:prstGeom>
          <a:ln w="38100">
            <a:solidFill>
              <a:srgbClr val="1F2A44"/>
            </a:solidFill>
            <a:tailEnd type="triangle" w="med" len="med"/>
          </a:ln>
        </p:spPr>
      </p:cxnSp>
      <p:cxnSp>
        <p:nvCxnSpPr>
          <p:cNvPr id="14" name="Connector 14"/>
          <p:cNvCxnSpPr/>
          <p:nvPr/>
        </p:nvCxnSpPr>
        <p:spPr>
          <a:xfrm>
            <a:off x="1737360" y="2194560"/>
            <a:ext cx="0" cy="292608"/>
          </a:xfrm>
          <a:prstGeom prst="straightConnector1">
            <a:avLst/>
          </a:prstGeom>
          <a:ln w="28575">
            <a:solidFill>
              <a:srgbClr val="7F8C9A"/>
            </a:solidFill>
            <a:prstDash val="dash"/>
            <a:tailEnd type="triangle" w="med" len="med"/>
          </a:ln>
        </p:spPr>
      </p:cxnSp>
      <p:cxnSp>
        <p:nvCxnSpPr>
          <p:cNvPr id="15" name="Connector 15"/>
          <p:cNvCxnSpPr/>
          <p:nvPr/>
        </p:nvCxnSpPr>
        <p:spPr>
          <a:xfrm>
            <a:off x="10424160" y="2194560"/>
            <a:ext cx="0" cy="292608"/>
          </a:xfrm>
          <a:prstGeom prst="straightConnector1">
            <a:avLst/>
          </a:prstGeom>
          <a:ln w="28575">
            <a:solidFill>
              <a:srgbClr val="7F8C9A"/>
            </a:solidFill>
            <a:prstDash val="dash"/>
            <a:tailEnd type="triangle" w="med" len="med"/>
          </a:ln>
        </p:spPr>
      </p:cxnSp>
      <p:cxnSp>
        <p:nvCxnSpPr>
          <p:cNvPr id="16" name="Connector 16"/>
          <p:cNvCxnSpPr/>
          <p:nvPr/>
        </p:nvCxnSpPr>
        <p:spPr>
          <a:xfrm>
            <a:off x="1737360" y="3611880"/>
            <a:ext cx="0" cy="457200"/>
          </a:xfrm>
          <a:prstGeom prst="straightConnector1">
            <a:avLst/>
          </a:prstGeom>
          <a:ln w="31750">
            <a:solidFill>
              <a:srgbClr val="1F2A44"/>
            </a:solidFill>
          </a:ln>
        </p:spPr>
      </p:cxnSp>
      <p:cxnSp>
        <p:nvCxnSpPr>
          <p:cNvPr id="17" name="Connector 17"/>
          <p:cNvCxnSpPr/>
          <p:nvPr/>
        </p:nvCxnSpPr>
        <p:spPr>
          <a:xfrm>
            <a:off x="1737360" y="4069080"/>
            <a:ext cx="8686800" cy="0"/>
          </a:xfrm>
          <a:prstGeom prst="straightConnector1">
            <a:avLst/>
          </a:prstGeom>
          <a:ln w="31750">
            <a:solidFill>
              <a:srgbClr val="1F2A44"/>
            </a:solidFill>
          </a:ln>
        </p:spPr>
      </p:cxnSp>
      <p:cxnSp>
        <p:nvCxnSpPr>
          <p:cNvPr id="18" name="Connector 18"/>
          <p:cNvCxnSpPr/>
          <p:nvPr/>
        </p:nvCxnSpPr>
        <p:spPr>
          <a:xfrm flipV="1">
            <a:off x="10424160" y="3639312"/>
            <a:ext cx="0" cy="429768"/>
          </a:xfrm>
          <a:prstGeom prst="straightConnector1">
            <a:avLst/>
          </a:prstGeom>
          <a:ln w="31750">
            <a:solidFill>
              <a:srgbClr val="1F2A44"/>
            </a:solidFill>
            <a:tailEnd type="triangle" w="med" len="med"/>
          </a:ln>
        </p:spPr>
      </p:cxnSp>
      <p:sp>
        <p:nvSpPr>
          <p:cNvPr id="19" name="Shape 19"/>
          <p:cNvSpPr/>
          <p:nvPr/>
        </p:nvSpPr>
        <p:spPr>
          <a:xfrm>
            <a:off x="2743200" y="4114800"/>
            <a:ext cx="6675120" cy="411480"/>
          </a:xfrm>
          <a:prstGeom prst="rect">
            <a:avLst/>
          </a:prstGeom>
          <a:noFill/>
          <a:ln>
            <a:noFill/>
          </a:ln>
        </p:spPr>
        <p:txBody>
          <a:bodyPr wrap="square" lIns="91440" tIns="45720" rIns="91440" bIns="45720" anchor="t" rtlCol="0">
            <a:noAutofit/>
          </a:bodyPr>
          <a:lstStyle/>
          <a:p>
            <a:pPr algn="ctr">
              <a:lnSpc>
                <a:spcPct val="100000"/>
              </a:lnSpc>
              <a:spcAft>
                <a:spcPts val="600"/>
              </a:spcAft>
              <a:buNone/>
            </a:pPr>
            <a:r>
              <a:rPr lang="en-GB" sz="2000" b="0" i="0" dirty="0">
                <a:solidFill>
                  <a:srgbClr val="5F6B7A"/>
                </a:solidFill>
                <a:latin typeface="Arial"/>
                <a:cs typeface="Arial"/>
              </a:rPr>
              <a:t>Direct route: facilities that survive today</a:t>
            </a:r>
            <a:endParaRPr lang="en-GB" sz="2000"/>
          </a:p>
        </p:txBody>
      </p:sp>
      <p:sp>
        <p:nvSpPr>
          <p:cNvPr id="20" name="Shape 20"/>
          <p:cNvSpPr/>
          <p:nvPr/>
        </p:nvSpPr>
        <p:spPr>
          <a:xfrm>
            <a:off x="548640" y="4617720"/>
            <a:ext cx="2423160" cy="1371600"/>
          </a:xfrm>
          <a:prstGeom prst="rect">
            <a:avLst/>
          </a:prstGeom>
          <a:solidFill>
            <a:srgbClr val="EEF1F5"/>
          </a:solidFill>
          <a:ln>
            <a:noFill/>
          </a:ln>
        </p:spPr>
        <p:txBody>
          <a:bodyPr wrap="square" lIns="109728" tIns="54864" rIns="109728" bIns="54864" anchor="t" rtlCol="0">
            <a:noAutofit/>
          </a:bodyPr>
          <a:lstStyle/>
          <a:p>
            <a:pPr algn="l">
              <a:lnSpc>
                <a:spcPct val="100000"/>
              </a:lnSpc>
              <a:spcAft>
                <a:spcPts val="200"/>
              </a:spcAft>
              <a:buNone/>
            </a:pPr>
            <a:r>
              <a:rPr lang="en-GB" sz="2000" b="1" i="0" dirty="0">
                <a:solidFill>
                  <a:srgbClr val="0072B2"/>
                </a:solidFill>
                <a:latin typeface="Arial"/>
                <a:cs typeface="Arial"/>
              </a:rPr>
              <a:t>RQ1  Map</a:t>
            </a:r>
            <a:endParaRPr lang="en-GB" sz="2000"/>
          </a:p>
          <a:p>
            <a:pPr algn="l">
              <a:lnSpc>
                <a:spcPct val="100000"/>
              </a:lnSpc>
              <a:spcAft>
                <a:spcPts val="600"/>
              </a:spcAft>
              <a:buNone/>
            </a:pPr>
            <a:r>
              <a:rPr lang="en-GB" sz="2000" b="0" i="0" dirty="0">
                <a:solidFill>
                  <a:srgbClr val="1F2A44"/>
                </a:solidFill>
                <a:latin typeface="Arial"/>
                <a:cs typeface="Arial"/>
              </a:rPr>
              <a:t>Where was mission care?</a:t>
            </a:r>
            <a:endParaRPr lang="en-GB" sz="2000"/>
          </a:p>
        </p:txBody>
      </p:sp>
      <p:sp>
        <p:nvSpPr>
          <p:cNvPr id="21" name="Shape 21"/>
          <p:cNvSpPr/>
          <p:nvPr/>
        </p:nvSpPr>
        <p:spPr>
          <a:xfrm>
            <a:off x="3429000" y="4617720"/>
            <a:ext cx="2423160" cy="1371600"/>
          </a:xfrm>
          <a:prstGeom prst="rect">
            <a:avLst/>
          </a:prstGeom>
          <a:solidFill>
            <a:srgbClr val="EEF1F5"/>
          </a:solidFill>
          <a:ln>
            <a:noFill/>
          </a:ln>
        </p:spPr>
        <p:txBody>
          <a:bodyPr wrap="square" lIns="109728" tIns="54864" rIns="109728" bIns="54864" anchor="t" rtlCol="0">
            <a:noAutofit/>
          </a:bodyPr>
          <a:lstStyle/>
          <a:p>
            <a:pPr algn="l">
              <a:lnSpc>
                <a:spcPct val="100000"/>
              </a:lnSpc>
              <a:spcAft>
                <a:spcPts val="200"/>
              </a:spcAft>
              <a:buNone/>
            </a:pPr>
            <a:r>
              <a:rPr lang="en-GB" sz="2000" b="1" i="0" dirty="0">
                <a:solidFill>
                  <a:srgbClr val="0072B2"/>
                </a:solidFill>
                <a:latin typeface="Arial"/>
                <a:cs typeface="Arial"/>
              </a:rPr>
              <a:t>RQ2  Link</a:t>
            </a:r>
            <a:endParaRPr lang="en-GB" sz="2000"/>
          </a:p>
          <a:p>
            <a:pPr algn="l">
              <a:lnSpc>
                <a:spcPct val="100000"/>
              </a:lnSpc>
              <a:spcAft>
                <a:spcPts val="600"/>
              </a:spcAft>
              <a:buNone/>
            </a:pPr>
            <a:r>
              <a:rPr lang="en-GB" sz="2000" b="0" i="0" dirty="0">
                <a:solidFill>
                  <a:srgbClr val="1F2A44"/>
                </a:solidFill>
                <a:latin typeface="Arial"/>
                <a:cs typeface="Arial"/>
              </a:rPr>
              <a:t>Trust, behaviour and burden today</a:t>
            </a:r>
            <a:endParaRPr lang="en-GB" sz="2000"/>
          </a:p>
        </p:txBody>
      </p:sp>
      <p:sp>
        <p:nvSpPr>
          <p:cNvPr id="22" name="Shape 22"/>
          <p:cNvSpPr/>
          <p:nvPr/>
        </p:nvSpPr>
        <p:spPr>
          <a:xfrm>
            <a:off x="6309360" y="4617720"/>
            <a:ext cx="2423160" cy="1371600"/>
          </a:xfrm>
          <a:prstGeom prst="rect">
            <a:avLst/>
          </a:prstGeom>
          <a:solidFill>
            <a:srgbClr val="EEF1F5"/>
          </a:solidFill>
          <a:ln>
            <a:noFill/>
          </a:ln>
        </p:spPr>
        <p:txBody>
          <a:bodyPr wrap="square" lIns="109728" tIns="54864" rIns="109728" bIns="54864" anchor="t" rtlCol="0">
            <a:noAutofit/>
          </a:bodyPr>
          <a:lstStyle/>
          <a:p>
            <a:pPr algn="l">
              <a:lnSpc>
                <a:spcPct val="100000"/>
              </a:lnSpc>
              <a:spcAft>
                <a:spcPts val="200"/>
              </a:spcAft>
              <a:buNone/>
            </a:pPr>
            <a:r>
              <a:rPr lang="en-GB" sz="2000" b="1" i="0" dirty="0">
                <a:solidFill>
                  <a:srgbClr val="0072B2"/>
                </a:solidFill>
                <a:latin typeface="Arial"/>
                <a:cs typeface="Arial"/>
              </a:rPr>
              <a:t>RQ3  Channels</a:t>
            </a:r>
            <a:endParaRPr lang="en-GB" sz="2000"/>
          </a:p>
          <a:p>
            <a:pPr algn="l">
              <a:lnSpc>
                <a:spcPct val="100000"/>
              </a:lnSpc>
              <a:spcAft>
                <a:spcPts val="600"/>
              </a:spcAft>
              <a:buNone/>
            </a:pPr>
            <a:r>
              <a:rPr lang="en-GB" sz="2000" b="0" i="0" dirty="0">
                <a:solidFill>
                  <a:srgbClr val="1F2A44"/>
                </a:solidFill>
                <a:latin typeface="Arial"/>
                <a:cs typeface="Arial"/>
              </a:rPr>
              <a:t>Facilities, health workers, norms, coercion</a:t>
            </a:r>
            <a:endParaRPr lang="en-GB" sz="2000"/>
          </a:p>
        </p:txBody>
      </p:sp>
      <p:sp>
        <p:nvSpPr>
          <p:cNvPr id="23" name="Shape 23"/>
          <p:cNvSpPr/>
          <p:nvPr/>
        </p:nvSpPr>
        <p:spPr>
          <a:xfrm>
            <a:off x="9189720" y="4617720"/>
            <a:ext cx="2423160" cy="1371600"/>
          </a:xfrm>
          <a:prstGeom prst="rect">
            <a:avLst/>
          </a:prstGeom>
          <a:solidFill>
            <a:srgbClr val="EEF1F5"/>
          </a:solidFill>
          <a:ln>
            <a:noFill/>
          </a:ln>
        </p:spPr>
        <p:txBody>
          <a:bodyPr wrap="square" lIns="109728" tIns="54864" rIns="109728" bIns="54864" anchor="t" rtlCol="0">
            <a:noAutofit/>
          </a:bodyPr>
          <a:lstStyle/>
          <a:p>
            <a:pPr algn="l">
              <a:lnSpc>
                <a:spcPct val="100000"/>
              </a:lnSpc>
              <a:spcAft>
                <a:spcPts val="200"/>
              </a:spcAft>
              <a:buNone/>
            </a:pPr>
            <a:r>
              <a:rPr lang="en-GB" sz="2000" b="1" i="0" dirty="0">
                <a:solidFill>
                  <a:srgbClr val="0072B2"/>
                </a:solidFill>
                <a:latin typeface="Arial"/>
                <a:cs typeface="Arial"/>
              </a:rPr>
              <a:t>RQ4  Meaning</a:t>
            </a:r>
            <a:endParaRPr lang="en-GB" sz="2000"/>
          </a:p>
          <a:p>
            <a:pPr algn="l">
              <a:lnSpc>
                <a:spcPct val="100000"/>
              </a:lnSpc>
              <a:spcAft>
                <a:spcPts val="600"/>
              </a:spcAft>
              <a:buNone/>
            </a:pPr>
            <a:r>
              <a:rPr lang="en-GB" sz="2000" b="0" i="0" dirty="0">
                <a:solidFill>
                  <a:srgbClr val="1F2A44"/>
                </a:solidFill>
                <a:latin typeface="Arial"/>
                <a:cs typeface="Arial"/>
              </a:rPr>
              <a:t>How communities see it</a:t>
            </a:r>
            <a:endParaRPr lang="en-GB"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I've already built this for Zambia, from records others haven't used</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5</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pic>
        <p:nvPicPr>
          <p:cNvPr id="6" name="Picture 6" descr="Photograph of pages 42 and 43 of a Northern Rhodesia medical report: Table 14, mission stations subsidised by government, listing in-patients and out-patients by station and missionary society, 1940 to 1946."/>
          <p:cNvPicPr>
            <a:picLocks noChangeAspect="1"/>
          </p:cNvPicPr>
          <p:nvPr/>
        </p:nvPicPr>
        <p:blipFill>
          <a:blip r:embed="rId10"/>
          <a:stretch>
            <a:fillRect/>
          </a:stretch>
        </p:blipFill>
        <p:spPr>
          <a:xfrm>
            <a:off x="548640" y="1691640"/>
            <a:ext cx="5120640" cy="4087368"/>
          </a:xfrm>
          <a:prstGeom prst="rect">
            <a:avLst/>
          </a:prstGeom>
          <a:ln w="9525">
            <a:solidFill>
              <a:srgbClr val="BFC5CE"/>
            </a:solidFill>
          </a:ln>
        </p:spPr>
      </p:pic>
      <p:sp>
        <p:nvSpPr>
          <p:cNvPr id="7" name="Shape 7"/>
          <p:cNvSpPr/>
          <p:nvPr/>
        </p:nvSpPr>
        <p:spPr>
          <a:xfrm>
            <a:off x="548640" y="5806440"/>
            <a:ext cx="5120640" cy="548640"/>
          </a:xfrm>
          <a:prstGeom prst="rect">
            <a:avLst/>
          </a:prstGeom>
          <a:noFill/>
          <a:ln>
            <a:noFill/>
          </a:ln>
        </p:spPr>
        <p:txBody>
          <a:bodyPr wrap="square" lIns="0" tIns="0" rIns="0" bIns="0" anchor="t" rtlCol="0">
            <a:noAutofit/>
          </a:bodyPr>
          <a:lstStyle/>
          <a:p>
            <a:pPr algn="l">
              <a:lnSpc>
                <a:spcPct val="100000"/>
              </a:lnSpc>
              <a:spcAft>
                <a:spcPts val="600"/>
              </a:spcAft>
              <a:buNone/>
            </a:pPr>
            <a:r>
              <a:rPr lang="en-GB" sz="1400" b="0" i="0" dirty="0">
                <a:solidFill>
                  <a:srgbClr val="5F6B7A"/>
                </a:solidFill>
                <a:latin typeface="Arial"/>
                <a:cs typeface="Arial"/>
              </a:rPr>
              <a:t>Northern Rhodesia medical report, Table 14: subsidised mission stations, in- and out-patients, 1940 to 1946</a:t>
            </a:r>
            <a:endParaRPr lang="en-GB" sz="1400"/>
          </a:p>
        </p:txBody>
      </p:sp>
      <p:sp>
        <p:nvSpPr>
          <p:cNvPr id="8" name="Shape 8"/>
          <p:cNvSpPr/>
          <p:nvPr/>
        </p:nvSpPr>
        <p:spPr>
          <a:xfrm>
            <a:off x="6035040" y="1691640"/>
            <a:ext cx="5605272" cy="1371600"/>
          </a:xfrm>
          <a:prstGeom prst="rect">
            <a:avLst/>
          </a:prstGeom>
          <a:solidFill>
            <a:srgbClr val="FCEBD0"/>
          </a:solidFill>
          <a:ln>
            <a:noFill/>
          </a:ln>
        </p:spPr>
        <p:txBody>
          <a:bodyPr wrap="square" lIns="137160" tIns="68580" rIns="137160" bIns="68580" anchor="t" rtlCol="0">
            <a:noAutofit/>
          </a:bodyPr>
          <a:lstStyle/>
          <a:p>
            <a:pPr algn="l">
              <a:lnSpc>
                <a:spcPct val="100000"/>
              </a:lnSpc>
              <a:spcAft>
                <a:spcPts val="200"/>
              </a:spcAft>
              <a:buNone/>
            </a:pPr>
            <a:r>
              <a:rPr lang="en-GB" sz="4000" b="1" i="0" dirty="0">
                <a:solidFill>
                  <a:srgbClr val="1F2A44"/>
                </a:solidFill>
                <a:latin typeface="Arial"/>
                <a:cs typeface="Arial"/>
              </a:rPr>
              <a:t>76 to 91%</a:t>
            </a:r>
            <a:endParaRPr lang="en-GB" sz="4000"/>
          </a:p>
          <a:p>
            <a:pPr algn="l">
              <a:lnSpc>
                <a:spcPct val="100000"/>
              </a:lnSpc>
              <a:spcAft>
                <a:spcPts val="600"/>
              </a:spcAft>
              <a:buNone/>
            </a:pPr>
            <a:r>
              <a:rPr lang="en-GB" sz="2000" b="0" i="0" dirty="0">
                <a:solidFill>
                  <a:srgbClr val="1F2A44"/>
                </a:solidFill>
                <a:latin typeface="Arial"/>
                <a:cs typeface="Arial"/>
              </a:rPr>
              <a:t>of missions are missing from the atlases most studies use (Jedwab et al. 2022)</a:t>
            </a:r>
            <a:endParaRPr lang="en-GB" sz="2000"/>
          </a:p>
        </p:txBody>
      </p:sp>
      <p:sp>
        <p:nvSpPr>
          <p:cNvPr id="9" name="Shape 9"/>
          <p:cNvSpPr/>
          <p:nvPr/>
        </p:nvSpPr>
        <p:spPr>
          <a:xfrm>
            <a:off x="6035040" y="3200400"/>
            <a:ext cx="5605272" cy="960120"/>
          </a:xfrm>
          <a:prstGeom prst="rect">
            <a:avLst/>
          </a:prstGeom>
          <a:solidFill>
            <a:srgbClr val="DCEBF7"/>
          </a:solidFill>
          <a:ln>
            <a:noFill/>
          </a:ln>
        </p:spPr>
        <p:txBody>
          <a:bodyPr wrap="square" lIns="137160" tIns="68580" rIns="137160" bIns="68580" anchor="t" rtlCol="0">
            <a:noAutofit/>
          </a:bodyPr>
          <a:lstStyle/>
          <a:p>
            <a:pPr algn="l">
              <a:lnSpc>
                <a:spcPct val="100000"/>
              </a:lnSpc>
              <a:spcAft>
                <a:spcPts val="200"/>
              </a:spcAft>
              <a:buNone/>
            </a:pPr>
            <a:r>
              <a:rPr lang="en-GB" sz="2200" b="1" i="0" dirty="0">
                <a:solidFill>
                  <a:srgbClr val="1F2A44"/>
                </a:solidFill>
                <a:latin typeface="Arial"/>
                <a:cs typeface="Arial"/>
              </a:rPr>
              <a:t>Blue Book church returns</a:t>
            </a:r>
            <a:endParaRPr lang="en-GB" sz="2200"/>
          </a:p>
          <a:p>
            <a:pPr algn="l">
              <a:lnSpc>
                <a:spcPct val="100000"/>
              </a:lnSpc>
              <a:spcAft>
                <a:spcPts val="600"/>
              </a:spcAft>
              <a:buNone/>
            </a:pPr>
            <a:r>
              <a:rPr lang="en-GB" sz="2000" b="0" i="0" dirty="0">
                <a:solidFill>
                  <a:srgbClr val="1F2A44"/>
                </a:solidFill>
                <a:latin typeface="Arial"/>
                <a:cs typeface="Arial"/>
              </a:rPr>
              <a:t>Every mission station, by society</a:t>
            </a:r>
            <a:endParaRPr lang="en-GB" sz="2000"/>
          </a:p>
        </p:txBody>
      </p:sp>
      <p:sp>
        <p:nvSpPr>
          <p:cNvPr id="10" name="Shape 10"/>
          <p:cNvSpPr/>
          <p:nvPr/>
        </p:nvSpPr>
        <p:spPr>
          <a:xfrm>
            <a:off x="6035040" y="4206240"/>
            <a:ext cx="5605272" cy="960120"/>
          </a:xfrm>
          <a:prstGeom prst="rect">
            <a:avLst/>
          </a:prstGeom>
          <a:solidFill>
            <a:srgbClr val="DCEBF7"/>
          </a:solidFill>
          <a:ln>
            <a:noFill/>
          </a:ln>
        </p:spPr>
        <p:txBody>
          <a:bodyPr wrap="square" lIns="137160" tIns="68580" rIns="137160" bIns="68580" anchor="t" rtlCol="0">
            <a:noAutofit/>
          </a:bodyPr>
          <a:lstStyle/>
          <a:p>
            <a:pPr algn="l">
              <a:lnSpc>
                <a:spcPct val="100000"/>
              </a:lnSpc>
              <a:spcAft>
                <a:spcPts val="200"/>
              </a:spcAft>
              <a:buNone/>
            </a:pPr>
            <a:r>
              <a:rPr lang="en-GB" sz="2200" b="1" i="0" dirty="0">
                <a:solidFill>
                  <a:srgbClr val="1F2A44"/>
                </a:solidFill>
                <a:latin typeface="Arial"/>
                <a:cs typeface="Arial"/>
              </a:rPr>
              <a:t>Colonial medical reports</a:t>
            </a:r>
            <a:endParaRPr lang="en-GB" sz="2200"/>
          </a:p>
          <a:p>
            <a:pPr algn="l">
              <a:lnSpc>
                <a:spcPct val="100000"/>
              </a:lnSpc>
              <a:spcAft>
                <a:spcPts val="600"/>
              </a:spcAft>
              <a:buNone/>
            </a:pPr>
            <a:r>
              <a:rPr lang="en-GB" sz="2000" b="0" i="0" dirty="0">
                <a:solidFill>
                  <a:srgbClr val="1F2A44"/>
                </a:solidFill>
                <a:latin typeface="Arial"/>
                <a:cs typeface="Arial"/>
              </a:rPr>
              <a:t>Facility type and yearly patient numbers</a:t>
            </a:r>
            <a:endParaRPr lang="en-GB" sz="2000"/>
          </a:p>
        </p:txBody>
      </p:sp>
      <p:sp>
        <p:nvSpPr>
          <p:cNvPr id="11" name="Shape 11"/>
          <p:cNvSpPr/>
          <p:nvPr/>
        </p:nvSpPr>
        <p:spPr>
          <a:xfrm>
            <a:off x="6035040" y="5257800"/>
            <a:ext cx="5605272" cy="731520"/>
          </a:xfrm>
          <a:prstGeom prst="rect">
            <a:avLst/>
          </a:prstGeom>
          <a:solidFill>
            <a:srgbClr val="1F2A44"/>
          </a:solidFill>
          <a:ln>
            <a:noFill/>
          </a:ln>
        </p:spPr>
        <p:txBody>
          <a:bodyPr wrap="square" lIns="137160" tIns="68580" rIns="137160" bIns="68580" anchor="ctr" rtlCol="0">
            <a:noAutofit/>
          </a:bodyPr>
          <a:lstStyle/>
          <a:p>
            <a:pPr algn="l">
              <a:lnSpc>
                <a:spcPct val="100000"/>
              </a:lnSpc>
              <a:spcAft>
                <a:spcPts val="600"/>
              </a:spcAft>
              <a:buNone/>
            </a:pPr>
            <a:r>
              <a:rPr lang="en-GB" sz="2200" b="1" i="0" dirty="0">
                <a:solidFill>
                  <a:srgbClr val="FFFFFF"/>
                </a:solidFill>
                <a:latin typeface="Arial"/>
                <a:cs typeface="Arial"/>
              </a:rPr>
              <a:t>= open, facility-level dataset for British Africa</a:t>
            </a:r>
            <a:endParaRPr lang="en-GB" sz="2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48 months, five work packages</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6</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4206240" y="1691640"/>
            <a:ext cx="1828800" cy="411480"/>
          </a:xfrm>
          <a:prstGeom prst="rect">
            <a:avLst/>
          </a:prstGeom>
          <a:solidFill>
            <a:srgbClr val="EEF1F5"/>
          </a:solidFill>
          <a:ln w="25400">
            <a:solidFill>
              <a:srgbClr val="FFFFFF"/>
            </a:solidFill>
          </a:ln>
        </p:spPr>
        <p:txBody>
          <a:bodyPr wrap="square" lIns="91440" tIns="45720" rIns="91440" bIns="45720" anchor="ctr" rtlCol="0">
            <a:noAutofit/>
          </a:bodyPr>
          <a:lstStyle/>
          <a:p>
            <a:pPr algn="ctr">
              <a:lnSpc>
                <a:spcPct val="100000"/>
              </a:lnSpc>
              <a:spcAft>
                <a:spcPts val="600"/>
              </a:spcAft>
              <a:buNone/>
            </a:pPr>
            <a:r>
              <a:rPr lang="en-GB" sz="1800" b="1" i="0" dirty="0">
                <a:solidFill>
                  <a:srgbClr val="1F2A44"/>
                </a:solidFill>
                <a:latin typeface="Arial"/>
                <a:cs typeface="Arial"/>
              </a:rPr>
              <a:t>Year 1</a:t>
            </a:r>
            <a:endParaRPr lang="en-GB" sz="1800"/>
          </a:p>
        </p:txBody>
      </p:sp>
      <p:sp>
        <p:nvSpPr>
          <p:cNvPr id="7" name="Shape 7"/>
          <p:cNvSpPr/>
          <p:nvPr/>
        </p:nvSpPr>
        <p:spPr>
          <a:xfrm>
            <a:off x="6035040" y="1691640"/>
            <a:ext cx="1828800" cy="411480"/>
          </a:xfrm>
          <a:prstGeom prst="rect">
            <a:avLst/>
          </a:prstGeom>
          <a:solidFill>
            <a:srgbClr val="EEF1F5"/>
          </a:solidFill>
          <a:ln w="25400">
            <a:solidFill>
              <a:srgbClr val="FFFFFF"/>
            </a:solidFill>
          </a:ln>
        </p:spPr>
        <p:txBody>
          <a:bodyPr wrap="square" lIns="91440" tIns="45720" rIns="91440" bIns="45720" anchor="ctr" rtlCol="0">
            <a:noAutofit/>
          </a:bodyPr>
          <a:lstStyle/>
          <a:p>
            <a:pPr algn="ctr">
              <a:lnSpc>
                <a:spcPct val="100000"/>
              </a:lnSpc>
              <a:spcAft>
                <a:spcPts val="600"/>
              </a:spcAft>
              <a:buNone/>
            </a:pPr>
            <a:r>
              <a:rPr lang="en-GB" sz="1800" b="1" i="0" dirty="0">
                <a:solidFill>
                  <a:srgbClr val="1F2A44"/>
                </a:solidFill>
                <a:latin typeface="Arial"/>
                <a:cs typeface="Arial"/>
              </a:rPr>
              <a:t>Year 2</a:t>
            </a:r>
            <a:endParaRPr lang="en-GB" sz="1800"/>
          </a:p>
        </p:txBody>
      </p:sp>
      <p:sp>
        <p:nvSpPr>
          <p:cNvPr id="8" name="Shape 8"/>
          <p:cNvSpPr/>
          <p:nvPr/>
        </p:nvSpPr>
        <p:spPr>
          <a:xfrm>
            <a:off x="7863840" y="1691640"/>
            <a:ext cx="1828800" cy="411480"/>
          </a:xfrm>
          <a:prstGeom prst="rect">
            <a:avLst/>
          </a:prstGeom>
          <a:solidFill>
            <a:srgbClr val="EEF1F5"/>
          </a:solidFill>
          <a:ln w="25400">
            <a:solidFill>
              <a:srgbClr val="FFFFFF"/>
            </a:solidFill>
          </a:ln>
        </p:spPr>
        <p:txBody>
          <a:bodyPr wrap="square" lIns="91440" tIns="45720" rIns="91440" bIns="45720" anchor="ctr" rtlCol="0">
            <a:noAutofit/>
          </a:bodyPr>
          <a:lstStyle/>
          <a:p>
            <a:pPr algn="ctr">
              <a:lnSpc>
                <a:spcPct val="100000"/>
              </a:lnSpc>
              <a:spcAft>
                <a:spcPts val="600"/>
              </a:spcAft>
              <a:buNone/>
            </a:pPr>
            <a:r>
              <a:rPr lang="en-GB" sz="1800" b="1" i="0" dirty="0">
                <a:solidFill>
                  <a:srgbClr val="1F2A44"/>
                </a:solidFill>
                <a:latin typeface="Arial"/>
                <a:cs typeface="Arial"/>
              </a:rPr>
              <a:t>Year 3</a:t>
            </a:r>
            <a:endParaRPr lang="en-GB" sz="1800"/>
          </a:p>
        </p:txBody>
      </p:sp>
      <p:sp>
        <p:nvSpPr>
          <p:cNvPr id="9" name="Shape 9"/>
          <p:cNvSpPr/>
          <p:nvPr/>
        </p:nvSpPr>
        <p:spPr>
          <a:xfrm>
            <a:off x="9692640" y="1691640"/>
            <a:ext cx="1828800" cy="411480"/>
          </a:xfrm>
          <a:prstGeom prst="rect">
            <a:avLst/>
          </a:prstGeom>
          <a:solidFill>
            <a:srgbClr val="EEF1F5"/>
          </a:solidFill>
          <a:ln w="25400">
            <a:solidFill>
              <a:srgbClr val="FFFFFF"/>
            </a:solidFill>
          </a:ln>
        </p:spPr>
        <p:txBody>
          <a:bodyPr wrap="square" lIns="91440" tIns="45720" rIns="91440" bIns="45720" anchor="ctr" rtlCol="0">
            <a:noAutofit/>
          </a:bodyPr>
          <a:lstStyle/>
          <a:p>
            <a:pPr algn="ctr">
              <a:lnSpc>
                <a:spcPct val="100000"/>
              </a:lnSpc>
              <a:spcAft>
                <a:spcPts val="600"/>
              </a:spcAft>
              <a:buNone/>
            </a:pPr>
            <a:r>
              <a:rPr lang="en-GB" sz="1800" b="1" i="0" dirty="0">
                <a:solidFill>
                  <a:srgbClr val="1F2A44"/>
                </a:solidFill>
                <a:latin typeface="Arial"/>
                <a:cs typeface="Arial"/>
              </a:rPr>
              <a:t>Year 4</a:t>
            </a:r>
            <a:endParaRPr lang="en-GB" sz="1800"/>
          </a:p>
        </p:txBody>
      </p:sp>
      <p:cxnSp>
        <p:nvCxnSpPr>
          <p:cNvPr id="10" name="Connector 10"/>
          <p:cNvCxnSpPr/>
          <p:nvPr/>
        </p:nvCxnSpPr>
        <p:spPr>
          <a:xfrm>
            <a:off x="4206240" y="2103120"/>
            <a:ext cx="0" cy="3447288"/>
          </a:xfrm>
          <a:prstGeom prst="straightConnector1">
            <a:avLst/>
          </a:prstGeom>
          <a:ln w="12700">
            <a:solidFill>
              <a:srgbClr val="C9CED6"/>
            </a:solidFill>
            <a:prstDash val="dash"/>
          </a:ln>
        </p:spPr>
      </p:cxnSp>
      <p:cxnSp>
        <p:nvCxnSpPr>
          <p:cNvPr id="11" name="Connector 11"/>
          <p:cNvCxnSpPr/>
          <p:nvPr/>
        </p:nvCxnSpPr>
        <p:spPr>
          <a:xfrm>
            <a:off x="6035040" y="2103120"/>
            <a:ext cx="0" cy="3447288"/>
          </a:xfrm>
          <a:prstGeom prst="straightConnector1">
            <a:avLst/>
          </a:prstGeom>
          <a:ln w="12700">
            <a:solidFill>
              <a:srgbClr val="C9CED6"/>
            </a:solidFill>
            <a:prstDash val="dash"/>
          </a:ln>
        </p:spPr>
      </p:cxnSp>
      <p:cxnSp>
        <p:nvCxnSpPr>
          <p:cNvPr id="12" name="Connector 12"/>
          <p:cNvCxnSpPr/>
          <p:nvPr/>
        </p:nvCxnSpPr>
        <p:spPr>
          <a:xfrm>
            <a:off x="7863840" y="2103120"/>
            <a:ext cx="0" cy="3447288"/>
          </a:xfrm>
          <a:prstGeom prst="straightConnector1">
            <a:avLst/>
          </a:prstGeom>
          <a:ln w="12700">
            <a:solidFill>
              <a:srgbClr val="C9CED6"/>
            </a:solidFill>
            <a:prstDash val="dash"/>
          </a:ln>
        </p:spPr>
      </p:cxnSp>
      <p:cxnSp>
        <p:nvCxnSpPr>
          <p:cNvPr id="13" name="Connector 13"/>
          <p:cNvCxnSpPr/>
          <p:nvPr/>
        </p:nvCxnSpPr>
        <p:spPr>
          <a:xfrm>
            <a:off x="9692640" y="2103120"/>
            <a:ext cx="0" cy="3447288"/>
          </a:xfrm>
          <a:prstGeom prst="straightConnector1">
            <a:avLst/>
          </a:prstGeom>
          <a:ln w="12700">
            <a:solidFill>
              <a:srgbClr val="C9CED6"/>
            </a:solidFill>
            <a:prstDash val="dash"/>
          </a:ln>
        </p:spPr>
      </p:cxnSp>
      <p:cxnSp>
        <p:nvCxnSpPr>
          <p:cNvPr id="14" name="Connector 14"/>
          <p:cNvCxnSpPr/>
          <p:nvPr/>
        </p:nvCxnSpPr>
        <p:spPr>
          <a:xfrm>
            <a:off x="11521440" y="2103120"/>
            <a:ext cx="0" cy="3447288"/>
          </a:xfrm>
          <a:prstGeom prst="straightConnector1">
            <a:avLst/>
          </a:prstGeom>
          <a:ln w="12700">
            <a:solidFill>
              <a:srgbClr val="C9CED6"/>
            </a:solidFill>
            <a:prstDash val="dash"/>
          </a:ln>
        </p:spPr>
      </p:cxnSp>
      <p:sp>
        <p:nvSpPr>
          <p:cNvPr id="15" name="Shape 15"/>
          <p:cNvSpPr/>
          <p:nvPr/>
        </p:nvSpPr>
        <p:spPr>
          <a:xfrm>
            <a:off x="548640" y="2221992"/>
            <a:ext cx="3566160" cy="475488"/>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1" i="0" dirty="0">
                <a:solidFill>
                  <a:srgbClr val="1F2A44"/>
                </a:solidFill>
                <a:latin typeface="Arial"/>
                <a:cs typeface="Arial"/>
              </a:rPr>
              <a:t>WP1  Historical dataset</a:t>
            </a:r>
            <a:endParaRPr lang="en-GB" sz="2000"/>
          </a:p>
        </p:txBody>
      </p:sp>
      <p:sp>
        <p:nvSpPr>
          <p:cNvPr id="16" name="Shape 16"/>
          <p:cNvSpPr/>
          <p:nvPr/>
        </p:nvSpPr>
        <p:spPr>
          <a:xfrm>
            <a:off x="4206240" y="2240280"/>
            <a:ext cx="2743200" cy="438912"/>
          </a:xfrm>
          <a:prstGeom prst="rect">
            <a:avLst/>
          </a:prstGeom>
          <a:solidFill>
            <a:srgbClr val="1F2A44"/>
          </a:solidFill>
          <a:ln>
            <a:noFill/>
          </a:ln>
        </p:spPr>
        <p:txBody>
          <a:bodyPr wrap="square" lIns="18288" tIns="9144" rIns="18288" bIns="9144" anchor="ctr" rtlCol="0">
            <a:noAutofit/>
          </a:bodyPr>
          <a:lstStyle/>
          <a:p>
            <a:pPr algn="ctr">
              <a:lnSpc>
                <a:spcPct val="100000"/>
              </a:lnSpc>
              <a:spcAft>
                <a:spcPts val="600"/>
              </a:spcAft>
              <a:buNone/>
            </a:pPr>
            <a:r>
              <a:rPr lang="en-GB" sz="1600" b="0" i="0" dirty="0">
                <a:solidFill>
                  <a:srgbClr val="FFFFFF"/>
                </a:solidFill>
                <a:latin typeface="Arial"/>
                <a:cs typeface="Arial"/>
              </a:rPr>
              <a:t>1 to 18</a:t>
            </a:r>
            <a:endParaRPr lang="en-GB" sz="1600"/>
          </a:p>
        </p:txBody>
      </p:sp>
      <p:sp>
        <p:nvSpPr>
          <p:cNvPr id="17" name="Shape 17"/>
          <p:cNvSpPr/>
          <p:nvPr/>
        </p:nvSpPr>
        <p:spPr>
          <a:xfrm>
            <a:off x="6903720" y="2304288"/>
            <a:ext cx="310896" cy="310896"/>
          </a:xfrm>
          <a:prstGeom prst="diamond">
            <a:avLst/>
          </a:prstGeom>
          <a:solidFill>
            <a:srgbClr val="E69F00"/>
          </a:solidFill>
          <a:ln w="19050">
            <a:solidFill>
              <a:srgbClr val="1F2A44"/>
            </a:solidFill>
          </a:ln>
        </p:spPr>
        <p:txBody>
          <a:bodyPr wrap="square" lIns="91440" tIns="45720" rIns="91440" bIns="45720" anchor="t" rtlCol="0">
            <a:noAutofit/>
          </a:bodyPr>
          <a:lstStyle/>
          <a:p>
            <a:endParaRPr lang="en-GB" sz="1200"/>
          </a:p>
        </p:txBody>
      </p:sp>
      <p:sp>
        <p:nvSpPr>
          <p:cNvPr id="18" name="Shape 18"/>
          <p:cNvSpPr/>
          <p:nvPr/>
        </p:nvSpPr>
        <p:spPr>
          <a:xfrm>
            <a:off x="548640" y="2788920"/>
            <a:ext cx="3566160" cy="475488"/>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1" i="0" dirty="0">
                <a:solidFill>
                  <a:srgbClr val="1F2A44"/>
                </a:solidFill>
                <a:latin typeface="Arial"/>
                <a:cs typeface="Arial"/>
              </a:rPr>
              <a:t>WP2  Linking to today</a:t>
            </a:r>
            <a:endParaRPr lang="en-GB" sz="2000"/>
          </a:p>
        </p:txBody>
      </p:sp>
      <p:sp>
        <p:nvSpPr>
          <p:cNvPr id="19" name="Shape 19"/>
          <p:cNvSpPr/>
          <p:nvPr/>
        </p:nvSpPr>
        <p:spPr>
          <a:xfrm>
            <a:off x="5882640" y="2807208"/>
            <a:ext cx="2895600" cy="438912"/>
          </a:xfrm>
          <a:prstGeom prst="rect">
            <a:avLst/>
          </a:prstGeom>
          <a:solidFill>
            <a:srgbClr val="0072B2"/>
          </a:solidFill>
          <a:ln>
            <a:noFill/>
          </a:ln>
        </p:spPr>
        <p:txBody>
          <a:bodyPr wrap="square" lIns="18288" tIns="9144" rIns="18288" bIns="9144" anchor="ctr" rtlCol="0">
            <a:noAutofit/>
          </a:bodyPr>
          <a:lstStyle/>
          <a:p>
            <a:pPr algn="ctr">
              <a:lnSpc>
                <a:spcPct val="100000"/>
              </a:lnSpc>
              <a:spcAft>
                <a:spcPts val="600"/>
              </a:spcAft>
              <a:buNone/>
            </a:pPr>
            <a:r>
              <a:rPr lang="en-GB" sz="1600" b="0" i="0" dirty="0">
                <a:solidFill>
                  <a:srgbClr val="FFFFFF"/>
                </a:solidFill>
                <a:latin typeface="Arial"/>
                <a:cs typeface="Arial"/>
              </a:rPr>
              <a:t>12 to 30</a:t>
            </a:r>
            <a:endParaRPr lang="en-GB" sz="1600"/>
          </a:p>
        </p:txBody>
      </p:sp>
      <p:sp>
        <p:nvSpPr>
          <p:cNvPr id="20" name="Shape 20"/>
          <p:cNvSpPr/>
          <p:nvPr/>
        </p:nvSpPr>
        <p:spPr>
          <a:xfrm>
            <a:off x="8732520" y="2871216"/>
            <a:ext cx="310896" cy="310896"/>
          </a:xfrm>
          <a:prstGeom prst="diamond">
            <a:avLst/>
          </a:prstGeom>
          <a:solidFill>
            <a:srgbClr val="E69F00"/>
          </a:solidFill>
          <a:ln w="19050">
            <a:solidFill>
              <a:srgbClr val="1F2A44"/>
            </a:solidFill>
          </a:ln>
        </p:spPr>
        <p:txBody>
          <a:bodyPr wrap="square" lIns="91440" tIns="45720" rIns="91440" bIns="45720" anchor="t" rtlCol="0">
            <a:noAutofit/>
          </a:bodyPr>
          <a:lstStyle/>
          <a:p>
            <a:endParaRPr lang="en-GB" sz="1200"/>
          </a:p>
        </p:txBody>
      </p:sp>
      <p:sp>
        <p:nvSpPr>
          <p:cNvPr id="21" name="Shape 21"/>
          <p:cNvSpPr/>
          <p:nvPr/>
        </p:nvSpPr>
        <p:spPr>
          <a:xfrm>
            <a:off x="548640" y="3355848"/>
            <a:ext cx="3566160" cy="475488"/>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1" i="0" dirty="0">
                <a:solidFill>
                  <a:srgbClr val="1F2A44"/>
                </a:solidFill>
                <a:latin typeface="Arial"/>
                <a:cs typeface="Arial"/>
              </a:rPr>
              <a:t>WP3  Causal analysis</a:t>
            </a:r>
            <a:endParaRPr lang="en-GB" sz="2000"/>
          </a:p>
        </p:txBody>
      </p:sp>
      <p:sp>
        <p:nvSpPr>
          <p:cNvPr id="22" name="Shape 22"/>
          <p:cNvSpPr/>
          <p:nvPr/>
        </p:nvSpPr>
        <p:spPr>
          <a:xfrm>
            <a:off x="7711440" y="3374136"/>
            <a:ext cx="2895600" cy="438912"/>
          </a:xfrm>
          <a:prstGeom prst="rect">
            <a:avLst/>
          </a:prstGeom>
          <a:solidFill>
            <a:srgbClr val="0072B2"/>
          </a:solidFill>
          <a:ln>
            <a:noFill/>
          </a:ln>
        </p:spPr>
        <p:txBody>
          <a:bodyPr wrap="square" lIns="18288" tIns="9144" rIns="18288" bIns="9144" anchor="ctr" rtlCol="0">
            <a:noAutofit/>
          </a:bodyPr>
          <a:lstStyle/>
          <a:p>
            <a:pPr algn="ctr">
              <a:lnSpc>
                <a:spcPct val="100000"/>
              </a:lnSpc>
              <a:spcAft>
                <a:spcPts val="600"/>
              </a:spcAft>
              <a:buNone/>
            </a:pPr>
            <a:r>
              <a:rPr lang="en-GB" sz="1600" b="0" i="0" dirty="0">
                <a:solidFill>
                  <a:srgbClr val="FFFFFF"/>
                </a:solidFill>
                <a:latin typeface="Arial"/>
                <a:cs typeface="Arial"/>
              </a:rPr>
              <a:t>24 to 42</a:t>
            </a:r>
            <a:endParaRPr lang="en-GB" sz="1600"/>
          </a:p>
        </p:txBody>
      </p:sp>
      <p:sp>
        <p:nvSpPr>
          <p:cNvPr id="23" name="Shape 23"/>
          <p:cNvSpPr/>
          <p:nvPr/>
        </p:nvSpPr>
        <p:spPr>
          <a:xfrm>
            <a:off x="10561320" y="3438144"/>
            <a:ext cx="310896" cy="310896"/>
          </a:xfrm>
          <a:prstGeom prst="diamond">
            <a:avLst/>
          </a:prstGeom>
          <a:solidFill>
            <a:srgbClr val="E69F00"/>
          </a:solidFill>
          <a:ln w="19050">
            <a:solidFill>
              <a:srgbClr val="1F2A44"/>
            </a:solidFill>
          </a:ln>
        </p:spPr>
        <p:txBody>
          <a:bodyPr wrap="square" lIns="91440" tIns="45720" rIns="91440" bIns="45720" anchor="t" rtlCol="0">
            <a:noAutofit/>
          </a:bodyPr>
          <a:lstStyle/>
          <a:p>
            <a:endParaRPr lang="en-GB" sz="1200"/>
          </a:p>
        </p:txBody>
      </p:sp>
      <p:sp>
        <p:nvSpPr>
          <p:cNvPr id="24" name="Shape 24"/>
          <p:cNvSpPr/>
          <p:nvPr/>
        </p:nvSpPr>
        <p:spPr>
          <a:xfrm>
            <a:off x="548640" y="3922776"/>
            <a:ext cx="3566160" cy="475488"/>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1" i="0" dirty="0">
                <a:solidFill>
                  <a:srgbClr val="1F2A44"/>
                </a:solidFill>
                <a:latin typeface="Arial"/>
                <a:cs typeface="Arial"/>
              </a:rPr>
              <a:t>WP4  Zambian fieldwork</a:t>
            </a:r>
            <a:endParaRPr lang="en-GB" sz="2000"/>
          </a:p>
        </p:txBody>
      </p:sp>
      <p:sp>
        <p:nvSpPr>
          <p:cNvPr id="25" name="Shape 25"/>
          <p:cNvSpPr/>
          <p:nvPr/>
        </p:nvSpPr>
        <p:spPr>
          <a:xfrm>
            <a:off x="7101840" y="3941064"/>
            <a:ext cx="1981200" cy="438912"/>
          </a:xfrm>
          <a:prstGeom prst="rect">
            <a:avLst/>
          </a:prstGeom>
          <a:solidFill>
            <a:srgbClr val="009E73"/>
          </a:solidFill>
          <a:ln>
            <a:noFill/>
          </a:ln>
        </p:spPr>
        <p:txBody>
          <a:bodyPr wrap="square" lIns="18288" tIns="9144" rIns="18288" bIns="9144" anchor="ctr" rtlCol="0">
            <a:noAutofit/>
          </a:bodyPr>
          <a:lstStyle/>
          <a:p>
            <a:pPr algn="ctr">
              <a:lnSpc>
                <a:spcPct val="100000"/>
              </a:lnSpc>
              <a:spcAft>
                <a:spcPts val="600"/>
              </a:spcAft>
              <a:buNone/>
            </a:pPr>
            <a:r>
              <a:rPr lang="en-GB" sz="1600" b="0" i="0" dirty="0">
                <a:solidFill>
                  <a:srgbClr val="FFFFFF"/>
                </a:solidFill>
                <a:latin typeface="Arial"/>
                <a:cs typeface="Arial"/>
              </a:rPr>
              <a:t>20 to 32</a:t>
            </a:r>
            <a:endParaRPr lang="en-GB" sz="1600"/>
          </a:p>
        </p:txBody>
      </p:sp>
      <p:sp>
        <p:nvSpPr>
          <p:cNvPr id="26" name="Shape 26"/>
          <p:cNvSpPr/>
          <p:nvPr/>
        </p:nvSpPr>
        <p:spPr>
          <a:xfrm>
            <a:off x="9037320" y="4005072"/>
            <a:ext cx="310896" cy="310896"/>
          </a:xfrm>
          <a:prstGeom prst="diamond">
            <a:avLst/>
          </a:prstGeom>
          <a:solidFill>
            <a:srgbClr val="E69F00"/>
          </a:solidFill>
          <a:ln w="19050">
            <a:solidFill>
              <a:srgbClr val="1F2A44"/>
            </a:solidFill>
          </a:ln>
        </p:spPr>
        <p:txBody>
          <a:bodyPr wrap="square" lIns="91440" tIns="45720" rIns="91440" bIns="45720" anchor="t" rtlCol="0">
            <a:noAutofit/>
          </a:bodyPr>
          <a:lstStyle/>
          <a:p>
            <a:endParaRPr lang="en-GB" sz="1200"/>
          </a:p>
        </p:txBody>
      </p:sp>
      <p:sp>
        <p:nvSpPr>
          <p:cNvPr id="27" name="Shape 27"/>
          <p:cNvSpPr/>
          <p:nvPr/>
        </p:nvSpPr>
        <p:spPr>
          <a:xfrm>
            <a:off x="548640" y="4489704"/>
            <a:ext cx="3566160" cy="475488"/>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1" i="0" dirty="0">
                <a:solidFill>
                  <a:srgbClr val="1F2A44"/>
                </a:solidFill>
                <a:latin typeface="Arial"/>
                <a:cs typeface="Arial"/>
              </a:rPr>
              <a:t>WP5  Synthesis</a:t>
            </a:r>
            <a:endParaRPr lang="en-GB" sz="2000"/>
          </a:p>
        </p:txBody>
      </p:sp>
      <p:sp>
        <p:nvSpPr>
          <p:cNvPr id="28" name="Shape 28"/>
          <p:cNvSpPr/>
          <p:nvPr/>
        </p:nvSpPr>
        <p:spPr>
          <a:xfrm>
            <a:off x="10454640" y="4507992"/>
            <a:ext cx="1066800" cy="438912"/>
          </a:xfrm>
          <a:prstGeom prst="rect">
            <a:avLst/>
          </a:prstGeom>
          <a:solidFill>
            <a:srgbClr val="E69F00"/>
          </a:solidFill>
          <a:ln>
            <a:noFill/>
          </a:ln>
        </p:spPr>
        <p:txBody>
          <a:bodyPr wrap="square" lIns="18288" tIns="9144" rIns="18288" bIns="9144" anchor="ctr" rtlCol="0">
            <a:noAutofit/>
          </a:bodyPr>
          <a:lstStyle/>
          <a:p>
            <a:pPr algn="ctr">
              <a:lnSpc>
                <a:spcPct val="100000"/>
              </a:lnSpc>
              <a:spcAft>
                <a:spcPts val="600"/>
              </a:spcAft>
              <a:buNone/>
            </a:pPr>
            <a:r>
              <a:rPr lang="en-GB" sz="1600" b="0" i="0" dirty="0">
                <a:solidFill>
                  <a:srgbClr val="1F2A44"/>
                </a:solidFill>
                <a:latin typeface="Arial"/>
                <a:cs typeface="Arial"/>
              </a:rPr>
              <a:t>42 to 48</a:t>
            </a:r>
            <a:endParaRPr lang="en-GB" sz="1600"/>
          </a:p>
        </p:txBody>
      </p:sp>
      <p:sp>
        <p:nvSpPr>
          <p:cNvPr id="29" name="Shape 29"/>
          <p:cNvSpPr/>
          <p:nvPr/>
        </p:nvSpPr>
        <p:spPr>
          <a:xfrm>
            <a:off x="11475720" y="4572000"/>
            <a:ext cx="310896" cy="310896"/>
          </a:xfrm>
          <a:prstGeom prst="diamond">
            <a:avLst/>
          </a:prstGeom>
          <a:solidFill>
            <a:srgbClr val="E69F00"/>
          </a:solidFill>
          <a:ln w="19050">
            <a:solidFill>
              <a:srgbClr val="1F2A44"/>
            </a:solidFill>
          </a:ln>
        </p:spPr>
        <p:txBody>
          <a:bodyPr wrap="square" lIns="91440" tIns="45720" rIns="91440" bIns="45720" anchor="t" rtlCol="0">
            <a:noAutofit/>
          </a:bodyPr>
          <a:lstStyle/>
          <a:p>
            <a:endParaRPr lang="en-GB" sz="1200"/>
          </a:p>
        </p:txBody>
      </p:sp>
      <p:sp>
        <p:nvSpPr>
          <p:cNvPr id="30" name="Shape 30"/>
          <p:cNvSpPr/>
          <p:nvPr/>
        </p:nvSpPr>
        <p:spPr>
          <a:xfrm>
            <a:off x="548640" y="5056632"/>
            <a:ext cx="3566160" cy="475488"/>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0" i="0" dirty="0">
                <a:solidFill>
                  <a:srgbClr val="1F2A44"/>
                </a:solidFill>
                <a:latin typeface="Arial"/>
                <a:cs typeface="Arial"/>
              </a:rPr>
              <a:t>Research assistant</a:t>
            </a:r>
            <a:endParaRPr lang="en-GB" sz="2000"/>
          </a:p>
        </p:txBody>
      </p:sp>
      <p:sp>
        <p:nvSpPr>
          <p:cNvPr id="31" name="Shape 31"/>
          <p:cNvSpPr/>
          <p:nvPr/>
        </p:nvSpPr>
        <p:spPr>
          <a:xfrm>
            <a:off x="4206240" y="5074920"/>
            <a:ext cx="3657600" cy="438912"/>
          </a:xfrm>
          <a:prstGeom prst="rect">
            <a:avLst/>
          </a:prstGeom>
          <a:solidFill>
            <a:srgbClr val="7F8C9A"/>
          </a:solidFill>
          <a:ln>
            <a:noFill/>
          </a:ln>
        </p:spPr>
        <p:txBody>
          <a:bodyPr wrap="square" lIns="18288" tIns="9144" rIns="18288" bIns="9144" anchor="ctr" rtlCol="0">
            <a:noAutofit/>
          </a:bodyPr>
          <a:lstStyle/>
          <a:p>
            <a:pPr algn="ctr">
              <a:lnSpc>
                <a:spcPct val="100000"/>
              </a:lnSpc>
              <a:spcAft>
                <a:spcPts val="600"/>
              </a:spcAft>
              <a:buNone/>
            </a:pPr>
            <a:r>
              <a:rPr lang="en-GB" sz="1600" b="0" i="0" dirty="0">
                <a:solidFill>
                  <a:srgbClr val="FFFFFF"/>
                </a:solidFill>
                <a:latin typeface="Arial"/>
                <a:cs typeface="Arial"/>
              </a:rPr>
              <a:t>1 to 24</a:t>
            </a:r>
            <a:endParaRPr lang="en-GB" sz="1600"/>
          </a:p>
        </p:txBody>
      </p:sp>
      <p:sp>
        <p:nvSpPr>
          <p:cNvPr id="32" name="Shape 32"/>
          <p:cNvSpPr/>
          <p:nvPr/>
        </p:nvSpPr>
        <p:spPr>
          <a:xfrm>
            <a:off x="548640" y="5596128"/>
            <a:ext cx="11091672" cy="731520"/>
          </a:xfrm>
          <a:prstGeom prst="rect">
            <a:avLst/>
          </a:prstGeom>
          <a:noFill/>
          <a:ln>
            <a:noFill/>
          </a:ln>
        </p:spPr>
        <p:txBody>
          <a:bodyPr wrap="square" lIns="0" tIns="0" rIns="0" bIns="0" anchor="t" rtlCol="0">
            <a:noAutofit/>
          </a:bodyPr>
          <a:lstStyle/>
          <a:p>
            <a:pPr algn="l">
              <a:lnSpc>
                <a:spcPct val="100000"/>
              </a:lnSpc>
              <a:spcAft>
                <a:spcPts val="600"/>
              </a:spcAft>
              <a:buNone/>
            </a:pPr>
            <a:r>
              <a:rPr lang="en-GB" sz="1800" b="1" i="0" dirty="0">
                <a:solidFill>
                  <a:srgbClr val="1F2A44"/>
                </a:solidFill>
                <a:latin typeface="Arial"/>
                <a:cs typeface="Arial"/>
              </a:rPr>
              <a:t>Milestones (diamonds):  </a:t>
            </a:r>
            <a:r>
              <a:rPr lang="en-GB" sz="1800" b="0" i="0" dirty="0">
                <a:solidFill>
                  <a:srgbClr val="1F2A44"/>
                </a:solidFill>
                <a:latin typeface="Arial"/>
                <a:cs typeface="Arial"/>
              </a:rPr>
              <a:t>v1 dataset and data paper (m18), first article (m30), fieldwork coded (m32), burden and mediation article (m42), open dataset and policy briefs (m48)</a:t>
            </a:r>
            <a:endParaRPr lang="en-GB"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Separating the effect of mission medicine from where missions chose to go</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7</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548640" y="1691640"/>
            <a:ext cx="3566160" cy="3886200"/>
          </a:xfrm>
          <a:prstGeom prst="rect">
            <a:avLst/>
          </a:prstGeom>
          <a:solidFill>
            <a:srgbClr val="FCEBD0"/>
          </a:solidFill>
          <a:ln>
            <a:noFill/>
          </a:ln>
        </p:spPr>
        <p:txBody>
          <a:bodyPr wrap="square" lIns="164592" tIns="82296" rIns="164592" bIns="82296" anchor="t" rtlCol="0">
            <a:noAutofit/>
          </a:bodyPr>
          <a:lstStyle/>
          <a:p>
            <a:pPr algn="l">
              <a:lnSpc>
                <a:spcPct val="100000"/>
              </a:lnSpc>
              <a:spcAft>
                <a:spcPts val="800"/>
              </a:spcAft>
              <a:buNone/>
            </a:pPr>
            <a:r>
              <a:rPr lang="en-GB" sz="2400" b="1" i="0" dirty="0">
                <a:solidFill>
                  <a:srgbClr val="1F2A44"/>
                </a:solidFill>
                <a:latin typeface="Arial"/>
                <a:cs typeface="Arial"/>
              </a:rPr>
              <a:t>The objection</a:t>
            </a:r>
            <a:endParaRPr lang="en-GB" sz="2400"/>
          </a:p>
          <a:p>
            <a:pPr algn="l">
              <a:lnSpc>
                <a:spcPct val="100000"/>
              </a:lnSpc>
              <a:spcAft>
                <a:spcPts val="800"/>
              </a:spcAft>
              <a:buNone/>
            </a:pPr>
            <a:r>
              <a:rPr lang="en-GB" sz="2200" b="0" i="0" dirty="0">
                <a:solidFill>
                  <a:srgbClr val="1F2A44"/>
                </a:solidFill>
                <a:latin typeface="Arial"/>
                <a:cs typeface="Arial"/>
              </a:rPr>
              <a:t>Missionaries chose healthier, more accessible, richer places.</a:t>
            </a:r>
            <a:endParaRPr lang="en-GB" sz="2200"/>
          </a:p>
          <a:p>
            <a:pPr algn="l">
              <a:lnSpc>
                <a:spcPct val="100000"/>
              </a:lnSpc>
              <a:spcAft>
                <a:spcPts val="800"/>
              </a:spcAft>
              <a:buNone/>
            </a:pPr>
            <a:r>
              <a:rPr lang="en-GB" sz="2200" b="0" i="0" dirty="0">
                <a:solidFill>
                  <a:srgbClr val="1F2A44"/>
                </a:solidFill>
                <a:latin typeface="Arial"/>
                <a:cs typeface="Arial"/>
              </a:rPr>
              <a:t>A simple comparison would mix up the effect of medicine with the effect of place.</a:t>
            </a:r>
            <a:endParaRPr lang="en-GB" sz="2200"/>
          </a:p>
          <a:p>
            <a:pPr algn="l">
              <a:lnSpc>
                <a:spcPct val="100000"/>
              </a:lnSpc>
              <a:spcAft>
                <a:spcPts val="600"/>
              </a:spcAft>
              <a:buNone/>
            </a:pPr>
            <a:r>
              <a:rPr lang="en-GB" sz="1600" b="0" i="0" dirty="0">
                <a:solidFill>
                  <a:srgbClr val="5F6B7A"/>
                </a:solidFill>
                <a:latin typeface="Arial"/>
                <a:cs typeface="Arial"/>
              </a:rPr>
              <a:t>Jedwab, Meier zu Selhausen and Moradi (2022)</a:t>
            </a:r>
            <a:endParaRPr lang="en-GB" sz="1600"/>
          </a:p>
        </p:txBody>
      </p:sp>
      <p:sp>
        <p:nvSpPr>
          <p:cNvPr id="7" name="Shape 7"/>
          <p:cNvSpPr/>
          <p:nvPr/>
        </p:nvSpPr>
        <p:spPr>
          <a:xfrm>
            <a:off x="4389120" y="1828800"/>
            <a:ext cx="594360" cy="594360"/>
          </a:xfrm>
          <a:prstGeom prst="ellipse">
            <a:avLst/>
          </a:prstGeom>
          <a:solidFill>
            <a:srgbClr val="1F2A44"/>
          </a:solidFill>
          <a:ln>
            <a:noFill/>
          </a:ln>
        </p:spPr>
        <p:txBody>
          <a:bodyPr wrap="square" lIns="0" tIns="0" rIns="0" bIns="0" anchor="ctr" rtlCol="0">
            <a:noAutofit/>
          </a:bodyPr>
          <a:lstStyle/>
          <a:p>
            <a:pPr algn="ctr">
              <a:lnSpc>
                <a:spcPct val="100000"/>
              </a:lnSpc>
              <a:spcAft>
                <a:spcPts val="600"/>
              </a:spcAft>
              <a:buNone/>
            </a:pPr>
            <a:r>
              <a:rPr lang="en-GB" sz="2400" b="1" i="0" dirty="0">
                <a:solidFill>
                  <a:srgbClr val="FFFFFF"/>
                </a:solidFill>
                <a:latin typeface="Arial"/>
                <a:cs typeface="Arial"/>
              </a:rPr>
              <a:t>1</a:t>
            </a:r>
            <a:endParaRPr lang="en-GB" sz="2400"/>
          </a:p>
        </p:txBody>
      </p:sp>
      <p:sp>
        <p:nvSpPr>
          <p:cNvPr id="8" name="Shape 8"/>
          <p:cNvSpPr/>
          <p:nvPr/>
        </p:nvSpPr>
        <p:spPr>
          <a:xfrm>
            <a:off x="5120640" y="1691640"/>
            <a:ext cx="6519672" cy="914400"/>
          </a:xfrm>
          <a:prstGeom prst="rect">
            <a:avLst/>
          </a:prstGeom>
          <a:solidFill>
            <a:srgbClr val="EEF1F5"/>
          </a:solidFill>
          <a:ln>
            <a:noFill/>
          </a:ln>
        </p:spPr>
        <p:txBody>
          <a:bodyPr wrap="square" lIns="109728" tIns="54864" rIns="109728" bIns="54864" anchor="t" rtlCol="0">
            <a:noAutofit/>
          </a:bodyPr>
          <a:lstStyle/>
          <a:p>
            <a:pPr algn="l">
              <a:lnSpc>
                <a:spcPct val="100000"/>
              </a:lnSpc>
              <a:spcAft>
                <a:spcPts val="200"/>
              </a:spcAft>
              <a:buNone/>
            </a:pPr>
            <a:r>
              <a:rPr lang="en-GB" sz="2400" b="1" i="0" dirty="0">
                <a:solidFill>
                  <a:srgbClr val="1F2A44"/>
                </a:solidFill>
                <a:latin typeface="Arial"/>
                <a:cs typeface="Arial"/>
              </a:rPr>
              <a:t>Control for location drivers</a:t>
            </a:r>
            <a:endParaRPr lang="en-GB" sz="2400"/>
          </a:p>
          <a:p>
            <a:pPr algn="l">
              <a:lnSpc>
                <a:spcPct val="100000"/>
              </a:lnSpc>
              <a:spcAft>
                <a:spcPts val="600"/>
              </a:spcAft>
              <a:buNone/>
            </a:pPr>
            <a:r>
              <a:rPr lang="en-GB" sz="1800" b="0" i="0" dirty="0">
                <a:solidFill>
                  <a:srgbClr val="5F6B7A"/>
                </a:solidFill>
                <a:latin typeface="Arial"/>
                <a:cs typeface="Arial"/>
              </a:rPr>
              <a:t>Malaria, railways, cash crops, state hospitals</a:t>
            </a:r>
            <a:endParaRPr lang="en-GB" sz="1800"/>
          </a:p>
        </p:txBody>
      </p:sp>
      <p:sp>
        <p:nvSpPr>
          <p:cNvPr id="9" name="Shape 9"/>
          <p:cNvSpPr/>
          <p:nvPr/>
        </p:nvSpPr>
        <p:spPr>
          <a:xfrm>
            <a:off x="4389120" y="2834640"/>
            <a:ext cx="594360" cy="594360"/>
          </a:xfrm>
          <a:prstGeom prst="ellipse">
            <a:avLst/>
          </a:prstGeom>
          <a:solidFill>
            <a:srgbClr val="1F2A44"/>
          </a:solidFill>
          <a:ln>
            <a:noFill/>
          </a:ln>
        </p:spPr>
        <p:txBody>
          <a:bodyPr wrap="square" lIns="0" tIns="0" rIns="0" bIns="0" anchor="ctr" rtlCol="0">
            <a:noAutofit/>
          </a:bodyPr>
          <a:lstStyle/>
          <a:p>
            <a:pPr algn="ctr">
              <a:lnSpc>
                <a:spcPct val="100000"/>
              </a:lnSpc>
              <a:spcAft>
                <a:spcPts val="600"/>
              </a:spcAft>
              <a:buNone/>
            </a:pPr>
            <a:r>
              <a:rPr lang="en-GB" sz="2400" b="1" i="0" dirty="0">
                <a:solidFill>
                  <a:srgbClr val="FFFFFF"/>
                </a:solidFill>
                <a:latin typeface="Arial"/>
                <a:cs typeface="Arial"/>
              </a:rPr>
              <a:t>2</a:t>
            </a:r>
            <a:endParaRPr lang="en-GB" sz="2400"/>
          </a:p>
        </p:txBody>
      </p:sp>
      <p:sp>
        <p:nvSpPr>
          <p:cNvPr id="10" name="Shape 10"/>
          <p:cNvSpPr/>
          <p:nvPr/>
        </p:nvSpPr>
        <p:spPr>
          <a:xfrm>
            <a:off x="5120640" y="2697480"/>
            <a:ext cx="6519672" cy="914400"/>
          </a:xfrm>
          <a:prstGeom prst="rect">
            <a:avLst/>
          </a:prstGeom>
          <a:solidFill>
            <a:srgbClr val="EEF1F5"/>
          </a:solidFill>
          <a:ln>
            <a:noFill/>
          </a:ln>
        </p:spPr>
        <p:txBody>
          <a:bodyPr wrap="square" lIns="109728" tIns="54864" rIns="109728" bIns="54864" anchor="t" rtlCol="0">
            <a:noAutofit/>
          </a:bodyPr>
          <a:lstStyle/>
          <a:p>
            <a:pPr algn="l">
              <a:lnSpc>
                <a:spcPct val="100000"/>
              </a:lnSpc>
              <a:spcAft>
                <a:spcPts val="200"/>
              </a:spcAft>
              <a:buNone/>
            </a:pPr>
            <a:r>
              <a:rPr lang="en-GB" sz="2400" b="1" i="0" dirty="0">
                <a:solidFill>
                  <a:srgbClr val="1F2A44"/>
                </a:solidFill>
                <a:latin typeface="Arial"/>
                <a:cs typeface="Arial"/>
              </a:rPr>
              <a:t>Medical vs non-medical stations</a:t>
            </a:r>
            <a:endParaRPr lang="en-GB" sz="2400"/>
          </a:p>
          <a:p>
            <a:pPr algn="l">
              <a:lnSpc>
                <a:spcPct val="100000"/>
              </a:lnSpc>
              <a:spcAft>
                <a:spcPts val="600"/>
              </a:spcAft>
              <a:buNone/>
            </a:pPr>
            <a:r>
              <a:rPr lang="en-GB" sz="1800" b="0" i="0" dirty="0">
                <a:solidFill>
                  <a:srgbClr val="5F6B7A"/>
                </a:solidFill>
                <a:latin typeface="Arial"/>
                <a:cs typeface="Arial"/>
              </a:rPr>
              <a:t>Same choice of location, different medical exposure</a:t>
            </a:r>
            <a:endParaRPr lang="en-GB" sz="1800"/>
          </a:p>
        </p:txBody>
      </p:sp>
      <p:sp>
        <p:nvSpPr>
          <p:cNvPr id="11" name="Shape 11"/>
          <p:cNvSpPr/>
          <p:nvPr/>
        </p:nvSpPr>
        <p:spPr>
          <a:xfrm>
            <a:off x="4389120" y="3840480"/>
            <a:ext cx="594360" cy="594360"/>
          </a:xfrm>
          <a:prstGeom prst="ellipse">
            <a:avLst/>
          </a:prstGeom>
          <a:solidFill>
            <a:srgbClr val="1F2A44"/>
          </a:solidFill>
          <a:ln>
            <a:noFill/>
          </a:ln>
        </p:spPr>
        <p:txBody>
          <a:bodyPr wrap="square" lIns="0" tIns="0" rIns="0" bIns="0" anchor="ctr" rtlCol="0">
            <a:noAutofit/>
          </a:bodyPr>
          <a:lstStyle/>
          <a:p>
            <a:pPr algn="ctr">
              <a:lnSpc>
                <a:spcPct val="100000"/>
              </a:lnSpc>
              <a:spcAft>
                <a:spcPts val="600"/>
              </a:spcAft>
              <a:buNone/>
            </a:pPr>
            <a:r>
              <a:rPr lang="en-GB" sz="2400" b="1" i="0" dirty="0">
                <a:solidFill>
                  <a:srgbClr val="FFFFFF"/>
                </a:solidFill>
                <a:latin typeface="Arial"/>
                <a:cs typeface="Arial"/>
              </a:rPr>
              <a:t>3</a:t>
            </a:r>
            <a:endParaRPr lang="en-GB" sz="2400"/>
          </a:p>
        </p:txBody>
      </p:sp>
      <p:sp>
        <p:nvSpPr>
          <p:cNvPr id="12" name="Shape 12"/>
          <p:cNvSpPr/>
          <p:nvPr/>
        </p:nvSpPr>
        <p:spPr>
          <a:xfrm>
            <a:off x="5120640" y="3703320"/>
            <a:ext cx="6519672" cy="914400"/>
          </a:xfrm>
          <a:prstGeom prst="rect">
            <a:avLst/>
          </a:prstGeom>
          <a:solidFill>
            <a:srgbClr val="EEF1F5"/>
          </a:solidFill>
          <a:ln>
            <a:noFill/>
          </a:ln>
        </p:spPr>
        <p:txBody>
          <a:bodyPr wrap="square" lIns="109728" tIns="54864" rIns="109728" bIns="54864" anchor="t" rtlCol="0">
            <a:noAutofit/>
          </a:bodyPr>
          <a:lstStyle/>
          <a:p>
            <a:pPr algn="l">
              <a:lnSpc>
                <a:spcPct val="100000"/>
              </a:lnSpc>
              <a:spcAft>
                <a:spcPts val="200"/>
              </a:spcAft>
              <a:buNone/>
            </a:pPr>
            <a:r>
              <a:rPr lang="en-GB" sz="2400" b="1" i="0" dirty="0">
                <a:solidFill>
                  <a:srgbClr val="1F2A44"/>
                </a:solidFill>
                <a:latin typeface="Arial"/>
                <a:cs typeface="Arial"/>
              </a:rPr>
              <a:t>Societies' medical propensity</a:t>
            </a:r>
            <a:endParaRPr lang="en-GB" sz="2400"/>
          </a:p>
          <a:p>
            <a:pPr algn="l">
              <a:lnSpc>
                <a:spcPct val="100000"/>
              </a:lnSpc>
              <a:spcAft>
                <a:spcPts val="600"/>
              </a:spcAft>
              <a:buNone/>
            </a:pPr>
            <a:r>
              <a:rPr lang="en-GB" sz="1800" b="0" i="0" dirty="0">
                <a:solidFill>
                  <a:srgbClr val="5F6B7A"/>
                </a:solidFill>
                <a:latin typeface="Arial"/>
                <a:cs typeface="Arial"/>
              </a:rPr>
              <a:t>Some societies did far more medical work than others</a:t>
            </a:r>
            <a:endParaRPr lang="en-GB" sz="1800"/>
          </a:p>
        </p:txBody>
      </p:sp>
      <p:sp>
        <p:nvSpPr>
          <p:cNvPr id="13" name="Shape 13"/>
          <p:cNvSpPr/>
          <p:nvPr/>
        </p:nvSpPr>
        <p:spPr>
          <a:xfrm>
            <a:off x="4389120" y="4846320"/>
            <a:ext cx="594360" cy="594360"/>
          </a:xfrm>
          <a:prstGeom prst="ellipse">
            <a:avLst/>
          </a:prstGeom>
          <a:solidFill>
            <a:srgbClr val="1F2A44"/>
          </a:solidFill>
          <a:ln>
            <a:noFill/>
          </a:ln>
        </p:spPr>
        <p:txBody>
          <a:bodyPr wrap="square" lIns="0" tIns="0" rIns="0" bIns="0" anchor="ctr" rtlCol="0">
            <a:noAutofit/>
          </a:bodyPr>
          <a:lstStyle/>
          <a:p>
            <a:pPr algn="ctr">
              <a:lnSpc>
                <a:spcPct val="100000"/>
              </a:lnSpc>
              <a:spcAft>
                <a:spcPts val="600"/>
              </a:spcAft>
              <a:buNone/>
            </a:pPr>
            <a:r>
              <a:rPr lang="en-GB" sz="2400" b="1" i="0" dirty="0">
                <a:solidFill>
                  <a:srgbClr val="FFFFFF"/>
                </a:solidFill>
                <a:latin typeface="Arial"/>
                <a:cs typeface="Arial"/>
              </a:rPr>
              <a:t>4</a:t>
            </a:r>
            <a:endParaRPr lang="en-GB" sz="2400"/>
          </a:p>
        </p:txBody>
      </p:sp>
      <p:sp>
        <p:nvSpPr>
          <p:cNvPr id="14" name="Shape 14"/>
          <p:cNvSpPr/>
          <p:nvPr/>
        </p:nvSpPr>
        <p:spPr>
          <a:xfrm>
            <a:off x="5120640" y="4709160"/>
            <a:ext cx="6519672" cy="914400"/>
          </a:xfrm>
          <a:prstGeom prst="rect">
            <a:avLst/>
          </a:prstGeom>
          <a:solidFill>
            <a:srgbClr val="EEF1F5"/>
          </a:solidFill>
          <a:ln>
            <a:noFill/>
          </a:ln>
        </p:spPr>
        <p:txBody>
          <a:bodyPr wrap="square" lIns="109728" tIns="54864" rIns="109728" bIns="54864" anchor="t" rtlCol="0">
            <a:noAutofit/>
          </a:bodyPr>
          <a:lstStyle/>
          <a:p>
            <a:pPr algn="l">
              <a:lnSpc>
                <a:spcPct val="100000"/>
              </a:lnSpc>
              <a:spcAft>
                <a:spcPts val="200"/>
              </a:spcAft>
              <a:buNone/>
            </a:pPr>
            <a:r>
              <a:rPr lang="en-GB" sz="2400" b="1" i="0" dirty="0">
                <a:solidFill>
                  <a:srgbClr val="1F2A44"/>
                </a:solidFill>
                <a:latin typeface="Arial"/>
                <a:cs typeface="Arial"/>
              </a:rPr>
              <a:t>Dose-response and distance decay</a:t>
            </a:r>
            <a:endParaRPr lang="en-GB" sz="2400"/>
          </a:p>
          <a:p>
            <a:pPr algn="l">
              <a:lnSpc>
                <a:spcPct val="100000"/>
              </a:lnSpc>
              <a:spcAft>
                <a:spcPts val="600"/>
              </a:spcAft>
              <a:buNone/>
            </a:pPr>
            <a:r>
              <a:rPr lang="en-GB" sz="1800" b="0" i="0" dirty="0">
                <a:solidFill>
                  <a:srgbClr val="5F6B7A"/>
                </a:solidFill>
                <a:latin typeface="Arial"/>
                <a:cs typeface="Arial"/>
              </a:rPr>
              <a:t>Effects grow with exposure, fade with distance</a:t>
            </a:r>
            <a:endParaRPr lang="en-GB" sz="1800"/>
          </a:p>
        </p:txBody>
      </p:sp>
      <p:sp>
        <p:nvSpPr>
          <p:cNvPr id="15" name="Shape 15"/>
          <p:cNvSpPr/>
          <p:nvPr/>
        </p:nvSpPr>
        <p:spPr>
          <a:xfrm>
            <a:off x="548640" y="5715000"/>
            <a:ext cx="11091672" cy="566928"/>
          </a:xfrm>
          <a:prstGeom prst="rect">
            <a:avLst/>
          </a:prstGeom>
          <a:solidFill>
            <a:srgbClr val="1F2A44"/>
          </a:solidFill>
          <a:ln>
            <a:noFill/>
          </a:ln>
        </p:spPr>
        <p:txBody>
          <a:bodyPr wrap="square" lIns="91440" tIns="45720" rIns="91440" bIns="45720" anchor="ctr" rtlCol="0">
            <a:noAutofit/>
          </a:bodyPr>
          <a:lstStyle/>
          <a:p>
            <a:pPr algn="ctr">
              <a:lnSpc>
                <a:spcPct val="100000"/>
              </a:lnSpc>
              <a:spcAft>
                <a:spcPts val="600"/>
              </a:spcAft>
              <a:buNone/>
            </a:pPr>
            <a:r>
              <a:rPr lang="en-GB" sz="2400" b="1" i="0" dirty="0">
                <a:solidFill>
                  <a:srgbClr val="FFFFFF"/>
                </a:solidFill>
                <a:latin typeface="Arial"/>
                <a:cs typeface="Arial"/>
              </a:rPr>
              <a:t>Report sensitivity bounds, not a claim of perfect exogeneity</a:t>
            </a:r>
            <a:endParaRPr lang="en-GB"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Asking communities what this history means</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8</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548640" y="1691640"/>
            <a:ext cx="2560320" cy="2011680"/>
          </a:xfrm>
          <a:prstGeom prst="rect">
            <a:avLst/>
          </a:prstGeom>
          <a:solidFill>
            <a:srgbClr val="0072B2"/>
          </a:solidFill>
          <a:ln>
            <a:noFill/>
          </a:ln>
        </p:spPr>
        <p:txBody>
          <a:bodyPr wrap="square" lIns="137160" tIns="68580" rIns="137160" bIns="68580" anchor="t" rtlCol="0">
            <a:noAutofit/>
          </a:bodyPr>
          <a:lstStyle/>
          <a:p>
            <a:pPr algn="l">
              <a:lnSpc>
                <a:spcPct val="100000"/>
              </a:lnSpc>
              <a:spcAft>
                <a:spcPts val="200"/>
              </a:spcAft>
              <a:buNone/>
            </a:pPr>
            <a:r>
              <a:rPr lang="en-GB" sz="4000" b="1" i="0" dirty="0">
                <a:solidFill>
                  <a:srgbClr val="FFFFFF"/>
                </a:solidFill>
                <a:latin typeface="Arial"/>
                <a:cs typeface="Arial"/>
              </a:rPr>
              <a:t>2</a:t>
            </a:r>
            <a:endParaRPr lang="en-GB" sz="4000"/>
          </a:p>
          <a:p>
            <a:pPr algn="l">
              <a:lnSpc>
                <a:spcPct val="100000"/>
              </a:lnSpc>
              <a:spcAft>
                <a:spcPts val="600"/>
              </a:spcAft>
              <a:buNone/>
            </a:pPr>
            <a:r>
              <a:rPr lang="en-GB" sz="2000" b="0" i="0" dirty="0">
                <a:solidFill>
                  <a:srgbClr val="FFFFFF"/>
                </a:solidFill>
                <a:latin typeface="Arial"/>
                <a:cs typeface="Arial"/>
              </a:rPr>
              <a:t>communities with long mission-hospital histories</a:t>
            </a:r>
            <a:endParaRPr lang="en-GB" sz="2000"/>
          </a:p>
        </p:txBody>
      </p:sp>
      <p:sp>
        <p:nvSpPr>
          <p:cNvPr id="7" name="Shape 7"/>
          <p:cNvSpPr/>
          <p:nvPr/>
        </p:nvSpPr>
        <p:spPr>
          <a:xfrm>
            <a:off x="3291840" y="1691640"/>
            <a:ext cx="2560320" cy="2011680"/>
          </a:xfrm>
          <a:prstGeom prst="rect">
            <a:avLst/>
          </a:prstGeom>
          <a:solidFill>
            <a:srgbClr val="EEF1F5"/>
          </a:solidFill>
          <a:ln>
            <a:noFill/>
          </a:ln>
        </p:spPr>
        <p:txBody>
          <a:bodyPr wrap="square" lIns="137160" tIns="68580" rIns="137160" bIns="68580" anchor="t" rtlCol="0">
            <a:noAutofit/>
          </a:bodyPr>
          <a:lstStyle/>
          <a:p>
            <a:pPr algn="l">
              <a:lnSpc>
                <a:spcPct val="100000"/>
              </a:lnSpc>
              <a:spcAft>
                <a:spcPts val="200"/>
              </a:spcAft>
              <a:buNone/>
            </a:pPr>
            <a:r>
              <a:rPr lang="en-GB" sz="4000" b="1" i="0" dirty="0">
                <a:solidFill>
                  <a:srgbClr val="1F2A44"/>
                </a:solidFill>
                <a:latin typeface="Arial"/>
                <a:cs typeface="Arial"/>
              </a:rPr>
              <a:t>2</a:t>
            </a:r>
            <a:endParaRPr lang="en-GB" sz="4000"/>
          </a:p>
          <a:p>
            <a:pPr algn="l">
              <a:lnSpc>
                <a:spcPct val="100000"/>
              </a:lnSpc>
              <a:spcAft>
                <a:spcPts val="600"/>
              </a:spcAft>
              <a:buNone/>
            </a:pPr>
            <a:r>
              <a:rPr lang="en-GB" sz="2000" b="0" i="0" dirty="0">
                <a:solidFill>
                  <a:srgbClr val="1F2A44"/>
                </a:solidFill>
                <a:latin typeface="Arial"/>
                <a:cs typeface="Arial"/>
              </a:rPr>
              <a:t>comparison communities without</a:t>
            </a:r>
            <a:endParaRPr lang="en-GB" sz="2000"/>
          </a:p>
        </p:txBody>
      </p:sp>
      <p:sp>
        <p:nvSpPr>
          <p:cNvPr id="8" name="Shape 8"/>
          <p:cNvSpPr/>
          <p:nvPr/>
        </p:nvSpPr>
        <p:spPr>
          <a:xfrm>
            <a:off x="548640" y="3840480"/>
            <a:ext cx="5303520" cy="868680"/>
          </a:xfrm>
          <a:prstGeom prst="rect">
            <a:avLst/>
          </a:prstGeom>
          <a:solidFill>
            <a:srgbClr val="DCEBF7"/>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Matched on today's access to care, province and language</a:t>
            </a:r>
            <a:endParaRPr lang="en-GB" sz="2000"/>
          </a:p>
        </p:txBody>
      </p:sp>
      <p:sp>
        <p:nvSpPr>
          <p:cNvPr id="9" name="Shape 9"/>
          <p:cNvSpPr/>
          <p:nvPr/>
        </p:nvSpPr>
        <p:spPr>
          <a:xfrm>
            <a:off x="548640" y="4846320"/>
            <a:ext cx="5303520" cy="1051560"/>
          </a:xfrm>
          <a:prstGeom prst="rect">
            <a:avLst/>
          </a:prstGeom>
          <a:noFill/>
          <a:ln w="12700">
            <a:solidFill>
              <a:srgbClr val="7F8C9A"/>
            </a:solidFill>
          </a:ln>
        </p:spPr>
        <p:txBody>
          <a:bodyPr wrap="square" lIns="137160" tIns="68580" rIns="137160" bIns="68580" anchor="t" rtlCol="0">
            <a:noAutofit/>
          </a:bodyPr>
          <a:lstStyle/>
          <a:p>
            <a:pPr algn="l">
              <a:lnSpc>
                <a:spcPct val="100000"/>
              </a:lnSpc>
              <a:spcAft>
                <a:spcPts val="200"/>
              </a:spcAft>
              <a:buNone/>
            </a:pPr>
            <a:r>
              <a:rPr lang="en-GB" sz="2000" b="1" i="0" dirty="0">
                <a:solidFill>
                  <a:srgbClr val="1F2A44"/>
                </a:solidFill>
                <a:latin typeface="Arial"/>
                <a:cs typeface="Arial"/>
              </a:rPr>
              <a:t>Who we talk to</a:t>
            </a:r>
            <a:endParaRPr lang="en-GB" sz="2000"/>
          </a:p>
          <a:p>
            <a:pPr algn="l">
              <a:lnSpc>
                <a:spcPct val="100000"/>
              </a:lnSpc>
              <a:spcAft>
                <a:spcPts val="600"/>
              </a:spcAft>
              <a:buNone/>
            </a:pPr>
            <a:r>
              <a:rPr lang="en-GB" sz="1800" b="0" i="0" dirty="0">
                <a:solidFill>
                  <a:srgbClr val="1F2A44"/>
                </a:solidFill>
                <a:latin typeface="Arial"/>
                <a:cs typeface="Arial"/>
              </a:rPr>
              <a:t>Elders, health workers, healers, church and traditional leaders, young people</a:t>
            </a:r>
            <a:endParaRPr lang="en-GB" sz="1800"/>
          </a:p>
        </p:txBody>
      </p:sp>
      <p:sp>
        <p:nvSpPr>
          <p:cNvPr id="10" name="Shape 10"/>
          <p:cNvSpPr/>
          <p:nvPr/>
        </p:nvSpPr>
        <p:spPr>
          <a:xfrm>
            <a:off x="6309360" y="1691640"/>
            <a:ext cx="1463040" cy="868680"/>
          </a:xfrm>
          <a:prstGeom prst="rect">
            <a:avLst/>
          </a:prstGeom>
          <a:noFill/>
          <a:ln>
            <a:noFill/>
          </a:ln>
        </p:spPr>
        <p:txBody>
          <a:bodyPr wrap="square" lIns="91440" tIns="45720" rIns="91440" bIns="45720" anchor="ctr" rtlCol="0">
            <a:noAutofit/>
          </a:bodyPr>
          <a:lstStyle/>
          <a:p>
            <a:pPr algn="r">
              <a:lnSpc>
                <a:spcPct val="100000"/>
              </a:lnSpc>
              <a:spcAft>
                <a:spcPts val="600"/>
              </a:spcAft>
              <a:buNone/>
            </a:pPr>
            <a:r>
              <a:rPr lang="en-GB" sz="4000" b="1" i="0" dirty="0">
                <a:solidFill>
                  <a:srgbClr val="0072B2"/>
                </a:solidFill>
                <a:latin typeface="Arial"/>
                <a:cs typeface="Arial"/>
              </a:rPr>
              <a:t>~50</a:t>
            </a:r>
            <a:endParaRPr lang="en-GB" sz="4000"/>
          </a:p>
        </p:txBody>
      </p:sp>
      <p:sp>
        <p:nvSpPr>
          <p:cNvPr id="11" name="Shape 11"/>
          <p:cNvSpPr/>
          <p:nvPr/>
        </p:nvSpPr>
        <p:spPr>
          <a:xfrm>
            <a:off x="7909560" y="1691640"/>
            <a:ext cx="3730752" cy="86868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0" i="0" dirty="0">
                <a:solidFill>
                  <a:srgbClr val="1F2A44"/>
                </a:solidFill>
                <a:latin typeface="Arial"/>
                <a:cs typeface="Arial"/>
              </a:rPr>
              <a:t>semi-structured interviews (40 to 60)</a:t>
            </a:r>
            <a:endParaRPr lang="en-GB" sz="2000"/>
          </a:p>
        </p:txBody>
      </p:sp>
      <p:sp>
        <p:nvSpPr>
          <p:cNvPr id="12" name="Shape 12"/>
          <p:cNvSpPr/>
          <p:nvPr/>
        </p:nvSpPr>
        <p:spPr>
          <a:xfrm>
            <a:off x="6309360" y="2697480"/>
            <a:ext cx="1463040" cy="868680"/>
          </a:xfrm>
          <a:prstGeom prst="rect">
            <a:avLst/>
          </a:prstGeom>
          <a:noFill/>
          <a:ln>
            <a:noFill/>
          </a:ln>
        </p:spPr>
        <p:txBody>
          <a:bodyPr wrap="square" lIns="91440" tIns="45720" rIns="91440" bIns="45720" anchor="ctr" rtlCol="0">
            <a:noAutofit/>
          </a:bodyPr>
          <a:lstStyle/>
          <a:p>
            <a:pPr algn="r">
              <a:lnSpc>
                <a:spcPct val="100000"/>
              </a:lnSpc>
              <a:spcAft>
                <a:spcPts val="600"/>
              </a:spcAft>
              <a:buNone/>
            </a:pPr>
            <a:r>
              <a:rPr lang="en-GB" sz="4000" b="1" i="0" dirty="0">
                <a:solidFill>
                  <a:srgbClr val="0072B2"/>
                </a:solidFill>
                <a:latin typeface="Arial"/>
                <a:cs typeface="Arial"/>
              </a:rPr>
              <a:t>8</a:t>
            </a:r>
            <a:endParaRPr lang="en-GB" sz="4000"/>
          </a:p>
        </p:txBody>
      </p:sp>
      <p:sp>
        <p:nvSpPr>
          <p:cNvPr id="13" name="Shape 13"/>
          <p:cNvSpPr/>
          <p:nvPr/>
        </p:nvSpPr>
        <p:spPr>
          <a:xfrm>
            <a:off x="7909560" y="2697480"/>
            <a:ext cx="3730752" cy="86868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0" i="0" dirty="0">
                <a:solidFill>
                  <a:srgbClr val="1F2A44"/>
                </a:solidFill>
                <a:latin typeface="Arial"/>
                <a:cs typeface="Arial"/>
              </a:rPr>
              <a:t>focus groups, women and men separately</a:t>
            </a:r>
            <a:endParaRPr lang="en-GB" sz="2000"/>
          </a:p>
        </p:txBody>
      </p:sp>
      <p:sp>
        <p:nvSpPr>
          <p:cNvPr id="14" name="Shape 14"/>
          <p:cNvSpPr/>
          <p:nvPr/>
        </p:nvSpPr>
        <p:spPr>
          <a:xfrm>
            <a:off x="6309360" y="3703320"/>
            <a:ext cx="1463040" cy="868680"/>
          </a:xfrm>
          <a:prstGeom prst="rect">
            <a:avLst/>
          </a:prstGeom>
          <a:noFill/>
          <a:ln>
            <a:noFill/>
          </a:ln>
        </p:spPr>
        <p:txBody>
          <a:bodyPr wrap="square" lIns="91440" tIns="45720" rIns="91440" bIns="45720" anchor="ctr" rtlCol="0">
            <a:noAutofit/>
          </a:bodyPr>
          <a:lstStyle/>
          <a:p>
            <a:pPr algn="r">
              <a:lnSpc>
                <a:spcPct val="100000"/>
              </a:lnSpc>
              <a:spcAft>
                <a:spcPts val="600"/>
              </a:spcAft>
              <a:buNone/>
            </a:pPr>
            <a:r>
              <a:rPr lang="en-GB" sz="4000" b="1" i="0" dirty="0">
                <a:solidFill>
                  <a:srgbClr val="0072B2"/>
                </a:solidFill>
                <a:latin typeface="Arial"/>
                <a:cs typeface="Arial"/>
              </a:rPr>
              <a:t>30</a:t>
            </a:r>
            <a:endParaRPr lang="en-GB" sz="4000"/>
          </a:p>
        </p:txBody>
      </p:sp>
      <p:sp>
        <p:nvSpPr>
          <p:cNvPr id="15" name="Shape 15"/>
          <p:cNvSpPr/>
          <p:nvPr/>
        </p:nvSpPr>
        <p:spPr>
          <a:xfrm>
            <a:off x="7909560" y="3703320"/>
            <a:ext cx="3730752" cy="86868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0" i="0" dirty="0">
                <a:solidFill>
                  <a:srgbClr val="1F2A44"/>
                </a:solidFill>
                <a:latin typeface="Arial"/>
                <a:cs typeface="Arial"/>
              </a:rPr>
              <a:t>days in the field with 4 Zambian assistants</a:t>
            </a:r>
            <a:endParaRPr lang="en-GB" sz="2000"/>
          </a:p>
        </p:txBody>
      </p:sp>
      <p:sp>
        <p:nvSpPr>
          <p:cNvPr id="16" name="Shape 16"/>
          <p:cNvSpPr/>
          <p:nvPr/>
        </p:nvSpPr>
        <p:spPr>
          <a:xfrm>
            <a:off x="6309360" y="4709160"/>
            <a:ext cx="1463040" cy="868680"/>
          </a:xfrm>
          <a:prstGeom prst="rect">
            <a:avLst/>
          </a:prstGeom>
          <a:noFill/>
          <a:ln>
            <a:noFill/>
          </a:ln>
        </p:spPr>
        <p:txBody>
          <a:bodyPr wrap="square" lIns="91440" tIns="45720" rIns="91440" bIns="45720" anchor="ctr" rtlCol="0">
            <a:noAutofit/>
          </a:bodyPr>
          <a:lstStyle/>
          <a:p>
            <a:pPr algn="r">
              <a:lnSpc>
                <a:spcPct val="100000"/>
              </a:lnSpc>
              <a:spcAft>
                <a:spcPts val="600"/>
              </a:spcAft>
              <a:buNone/>
            </a:pPr>
            <a:r>
              <a:rPr lang="en-GB" sz="4000" b="1" i="0" dirty="0">
                <a:solidFill>
                  <a:srgbClr val="0072B2"/>
                </a:solidFill>
                <a:latin typeface="Arial"/>
                <a:cs typeface="Arial"/>
              </a:rPr>
              <a:t>1</a:t>
            </a:r>
            <a:endParaRPr lang="en-GB" sz="4000"/>
          </a:p>
        </p:txBody>
      </p:sp>
      <p:sp>
        <p:nvSpPr>
          <p:cNvPr id="17" name="Shape 17"/>
          <p:cNvSpPr/>
          <p:nvPr/>
        </p:nvSpPr>
        <p:spPr>
          <a:xfrm>
            <a:off x="7909560" y="4709160"/>
            <a:ext cx="3730752" cy="86868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0" i="0" dirty="0">
                <a:solidFill>
                  <a:srgbClr val="1F2A44"/>
                </a:solidFill>
                <a:latin typeface="Arial"/>
                <a:cs typeface="Arial"/>
              </a:rPr>
              <a:t>community feedback visit before publication</a:t>
            </a:r>
            <a:endParaRPr lang="en-GB"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What the reviewers asked, and what has changed</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9</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8897112" y="109728"/>
            <a:ext cx="2743200" cy="365760"/>
          </a:xfrm>
          <a:prstGeom prst="rect">
            <a:avLst/>
          </a:prstGeom>
          <a:solidFill>
            <a:srgbClr val="FCEBD0"/>
          </a:solidFill>
          <a:ln>
            <a:noFill/>
          </a:ln>
        </p:spPr>
        <p:txBody>
          <a:bodyPr wrap="square" lIns="27432" tIns="13716" rIns="27432" bIns="13716" anchor="ctr" rtlCol="0">
            <a:noAutofit/>
          </a:bodyPr>
          <a:lstStyle/>
          <a:p>
            <a:pPr algn="ctr">
              <a:lnSpc>
                <a:spcPct val="100000"/>
              </a:lnSpc>
              <a:spcAft>
                <a:spcPts val="600"/>
              </a:spcAft>
              <a:buNone/>
            </a:pPr>
            <a:r>
              <a:rPr lang="en-GB" sz="1400" b="1" i="0" dirty="0">
                <a:solidFill>
                  <a:srgbClr val="1F2A44"/>
                </a:solidFill>
                <a:latin typeface="Arial"/>
                <a:cs typeface="Arial"/>
              </a:rPr>
              <a:t>DRAFT: update after reviews</a:t>
            </a:r>
            <a:endParaRPr lang="en-GB" sz="1400"/>
          </a:p>
        </p:txBody>
      </p:sp>
      <p:sp>
        <p:nvSpPr>
          <p:cNvPr id="7" name="Shape 7"/>
          <p:cNvSpPr/>
          <p:nvPr/>
        </p:nvSpPr>
        <p:spPr>
          <a:xfrm>
            <a:off x="548640" y="1691640"/>
            <a:ext cx="3840480" cy="548640"/>
          </a:xfrm>
          <a:prstGeom prst="rect">
            <a:avLst/>
          </a:prstGeom>
          <a:solidFill>
            <a:srgbClr val="1F2A44"/>
          </a:solidFill>
          <a:ln>
            <a:noFill/>
          </a:ln>
        </p:spPr>
        <p:txBody>
          <a:bodyPr wrap="square" lIns="137160" tIns="68580" rIns="137160" bIns="68580" anchor="ctr" rtlCol="0">
            <a:noAutofit/>
          </a:bodyPr>
          <a:lstStyle/>
          <a:p>
            <a:pPr algn="l">
              <a:lnSpc>
                <a:spcPct val="100000"/>
              </a:lnSpc>
              <a:spcAft>
                <a:spcPts val="600"/>
              </a:spcAft>
              <a:buNone/>
            </a:pPr>
            <a:r>
              <a:rPr lang="en-GB" sz="2200" b="1" i="0" dirty="0">
                <a:solidFill>
                  <a:srgbClr val="FFFFFF"/>
                </a:solidFill>
                <a:latin typeface="Arial"/>
                <a:cs typeface="Arial"/>
              </a:rPr>
              <a:t>Reviewers asked</a:t>
            </a:r>
            <a:endParaRPr lang="en-GB" sz="2200"/>
          </a:p>
        </p:txBody>
      </p:sp>
      <p:sp>
        <p:nvSpPr>
          <p:cNvPr id="8" name="Shape 8"/>
          <p:cNvSpPr/>
          <p:nvPr/>
        </p:nvSpPr>
        <p:spPr>
          <a:xfrm>
            <a:off x="4480560" y="1691640"/>
            <a:ext cx="7159752" cy="548640"/>
          </a:xfrm>
          <a:prstGeom prst="rect">
            <a:avLst/>
          </a:prstGeom>
          <a:solidFill>
            <a:srgbClr val="1F2A44"/>
          </a:solidFill>
          <a:ln>
            <a:noFill/>
          </a:ln>
        </p:spPr>
        <p:txBody>
          <a:bodyPr wrap="square" lIns="137160" tIns="68580" rIns="137160" bIns="68580" anchor="ctr" rtlCol="0">
            <a:noAutofit/>
          </a:bodyPr>
          <a:lstStyle/>
          <a:p>
            <a:pPr algn="l">
              <a:lnSpc>
                <a:spcPct val="100000"/>
              </a:lnSpc>
              <a:spcAft>
                <a:spcPts val="600"/>
              </a:spcAft>
              <a:buNone/>
            </a:pPr>
            <a:r>
              <a:rPr lang="en-GB" sz="2200" b="1" i="0" dirty="0">
                <a:solidFill>
                  <a:srgbClr val="FFFFFF"/>
                </a:solidFill>
                <a:latin typeface="Arial"/>
                <a:cs typeface="Arial"/>
              </a:rPr>
              <a:t>My response</a:t>
            </a:r>
            <a:endParaRPr lang="en-GB" sz="2200"/>
          </a:p>
        </p:txBody>
      </p:sp>
      <p:sp>
        <p:nvSpPr>
          <p:cNvPr id="9" name="Shape 9"/>
          <p:cNvSpPr/>
          <p:nvPr/>
        </p:nvSpPr>
        <p:spPr>
          <a:xfrm>
            <a:off x="548640" y="2331720"/>
            <a:ext cx="3840480" cy="795528"/>
          </a:xfrm>
          <a:prstGeom prst="rect">
            <a:avLst/>
          </a:prstGeom>
          <a:solidFill>
            <a:srgbClr val="EEF1F5"/>
          </a:solidFill>
          <a:ln>
            <a:noFill/>
          </a:ln>
        </p:spPr>
        <p:txBody>
          <a:bodyPr wrap="square" lIns="137160" tIns="68580" rIns="137160" bIns="68580" anchor="ctr" rtlCol="0">
            <a:noAutofit/>
          </a:bodyPr>
          <a:lstStyle/>
          <a:p>
            <a:pPr algn="l">
              <a:lnSpc>
                <a:spcPct val="100000"/>
              </a:lnSpc>
              <a:spcAft>
                <a:spcPts val="600"/>
              </a:spcAft>
              <a:buNone/>
            </a:pPr>
            <a:r>
              <a:rPr lang="en-GB" sz="2000" b="1" i="0" dirty="0">
                <a:solidFill>
                  <a:srgbClr val="1F2A44"/>
                </a:solidFill>
                <a:latin typeface="Arial"/>
                <a:cs typeface="Arial"/>
              </a:rPr>
              <a:t>How is trust measured?</a:t>
            </a:r>
            <a:endParaRPr lang="en-GB" sz="2000"/>
          </a:p>
        </p:txBody>
      </p:sp>
      <p:sp>
        <p:nvSpPr>
          <p:cNvPr id="10" name="Shape 10"/>
          <p:cNvSpPr/>
          <p:nvPr/>
        </p:nvSpPr>
        <p:spPr>
          <a:xfrm>
            <a:off x="4480560" y="2331720"/>
            <a:ext cx="7159752" cy="795528"/>
          </a:xfrm>
          <a:prstGeom prst="rect">
            <a:avLst/>
          </a:prstGeom>
          <a:solidFill>
            <a:srgbClr val="EEF1F5"/>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DHS blood-test refusal, Afrobarometer clinic experience, and fieldwork accounts</a:t>
            </a:r>
            <a:endParaRPr lang="en-GB" sz="2000"/>
          </a:p>
        </p:txBody>
      </p:sp>
      <p:sp>
        <p:nvSpPr>
          <p:cNvPr id="11" name="Shape 11"/>
          <p:cNvSpPr/>
          <p:nvPr/>
        </p:nvSpPr>
        <p:spPr>
          <a:xfrm>
            <a:off x="548640" y="3218688"/>
            <a:ext cx="3840480" cy="795528"/>
          </a:xfrm>
          <a:prstGeom prst="rect">
            <a:avLst/>
          </a:prstGeom>
          <a:solidFill>
            <a:srgbClr val="EEF1F5"/>
          </a:solidFill>
          <a:ln>
            <a:noFill/>
          </a:ln>
        </p:spPr>
        <p:txBody>
          <a:bodyPr wrap="square" lIns="137160" tIns="68580" rIns="137160" bIns="68580" anchor="ctr" rtlCol="0">
            <a:noAutofit/>
          </a:bodyPr>
          <a:lstStyle/>
          <a:p>
            <a:pPr algn="l">
              <a:lnSpc>
                <a:spcPct val="100000"/>
              </a:lnSpc>
              <a:spcAft>
                <a:spcPts val="600"/>
              </a:spcAft>
              <a:buNone/>
            </a:pPr>
            <a:r>
              <a:rPr lang="en-GB" sz="2000" b="1" i="0" dirty="0">
                <a:solidFill>
                  <a:srgbClr val="1F2A44"/>
                </a:solidFill>
                <a:latin typeface="Arial"/>
                <a:cs typeface="Arial"/>
              </a:rPr>
              <a:t>Is the mediation credible?</a:t>
            </a:r>
            <a:endParaRPr lang="en-GB" sz="2000"/>
          </a:p>
        </p:txBody>
      </p:sp>
      <p:sp>
        <p:nvSpPr>
          <p:cNvPr id="12" name="Shape 12"/>
          <p:cNvSpPr/>
          <p:nvPr/>
        </p:nvSpPr>
        <p:spPr>
          <a:xfrm>
            <a:off x="4480560" y="3218688"/>
            <a:ext cx="7159752" cy="795528"/>
          </a:xfrm>
          <a:prstGeom prst="rect">
            <a:avLst/>
          </a:prstGeom>
          <a:solidFill>
            <a:srgbClr val="EEF1F5"/>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Total effect is primary; trust share via sequential g-estimation with sensitivity bounds</a:t>
            </a:r>
            <a:endParaRPr lang="en-GB" sz="2000"/>
          </a:p>
        </p:txBody>
      </p:sp>
      <p:sp>
        <p:nvSpPr>
          <p:cNvPr id="13" name="Shape 13"/>
          <p:cNvSpPr/>
          <p:nvPr/>
        </p:nvSpPr>
        <p:spPr>
          <a:xfrm>
            <a:off x="548640" y="4105656"/>
            <a:ext cx="3840480" cy="795528"/>
          </a:xfrm>
          <a:prstGeom prst="rect">
            <a:avLst/>
          </a:prstGeom>
          <a:solidFill>
            <a:srgbClr val="EEF1F5"/>
          </a:solidFill>
          <a:ln>
            <a:noFill/>
          </a:ln>
        </p:spPr>
        <p:txBody>
          <a:bodyPr wrap="square" lIns="137160" tIns="68580" rIns="137160" bIns="68580" anchor="ctr" rtlCol="0">
            <a:noAutofit/>
          </a:bodyPr>
          <a:lstStyle/>
          <a:p>
            <a:pPr algn="l">
              <a:lnSpc>
                <a:spcPct val="100000"/>
              </a:lnSpc>
              <a:spcAft>
                <a:spcPts val="600"/>
              </a:spcAft>
              <a:buNone/>
            </a:pPr>
            <a:r>
              <a:rPr lang="en-GB" sz="2000" b="1" i="0" dirty="0">
                <a:solidFill>
                  <a:srgbClr val="1F2A44"/>
                </a:solidFill>
                <a:latin typeface="Arial"/>
                <a:cs typeface="Arial"/>
              </a:rPr>
              <a:t>Is continental coverage feasible?</a:t>
            </a:r>
            <a:endParaRPr lang="en-GB" sz="2000"/>
          </a:p>
        </p:txBody>
      </p:sp>
      <p:sp>
        <p:nvSpPr>
          <p:cNvPr id="14" name="Shape 14"/>
          <p:cNvSpPr/>
          <p:nvPr/>
        </p:nvSpPr>
        <p:spPr>
          <a:xfrm>
            <a:off x="4480560" y="4105656"/>
            <a:ext cx="7159752" cy="795528"/>
          </a:xfrm>
          <a:prstGeom prst="rect">
            <a:avLst/>
          </a:prstGeom>
          <a:solidFill>
            <a:srgbClr val="EEF1F5"/>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Coverage audit: [N] territories, [years]; core set by month 18</a:t>
            </a:r>
            <a:endParaRPr lang="en-GB" sz="2000"/>
          </a:p>
        </p:txBody>
      </p:sp>
      <p:sp>
        <p:nvSpPr>
          <p:cNvPr id="15" name="Shape 15"/>
          <p:cNvSpPr/>
          <p:nvPr/>
        </p:nvSpPr>
        <p:spPr>
          <a:xfrm>
            <a:off x="548640" y="5074920"/>
            <a:ext cx="11091672" cy="1097280"/>
          </a:xfrm>
          <a:prstGeom prst="rect">
            <a:avLst/>
          </a:prstGeom>
          <a:solidFill>
            <a:srgbClr val="FCEBD0"/>
          </a:solidFill>
          <a:ln>
            <a:noFill/>
          </a:ln>
        </p:spPr>
        <p:txBody>
          <a:bodyPr wrap="square" lIns="137160" tIns="68580" rIns="137160" bIns="68580" anchor="t" rtlCol="0">
            <a:noAutofit/>
          </a:bodyPr>
          <a:lstStyle/>
          <a:p>
            <a:pPr algn="l">
              <a:lnSpc>
                <a:spcPct val="100000"/>
              </a:lnSpc>
              <a:spcAft>
                <a:spcPts val="400"/>
              </a:spcAft>
              <a:buNone/>
            </a:pPr>
            <a:r>
              <a:rPr lang="en-GB" sz="2200" b="1" i="0" dirty="0">
                <a:solidFill>
                  <a:srgbClr val="1F2A44"/>
                </a:solidFill>
                <a:latin typeface="Arial"/>
                <a:cs typeface="Arial"/>
              </a:rPr>
              <a:t>Since submission</a:t>
            </a:r>
            <a:endParaRPr lang="en-GB" sz="2200"/>
          </a:p>
          <a:p>
            <a:pPr algn="l">
              <a:lnSpc>
                <a:spcPct val="100000"/>
              </a:lnSpc>
              <a:spcAft>
                <a:spcPts val="600"/>
              </a:spcAft>
              <a:buNone/>
            </a:pPr>
            <a:r>
              <a:rPr lang="en-GB" sz="2000" b="0" i="0" dirty="0">
                <a:solidFill>
                  <a:srgbClr val="1F2A44"/>
                </a:solidFill>
                <a:latin typeface="Arial"/>
                <a:cs typeface="Arial"/>
              </a:rPr>
              <a:t>[Add only real updates: advisory group names, Zambian partner, coverage audit, new papers or talks]</a:t>
            </a:r>
            <a:endParaRPr lang="en-GB"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I've already done the hardest part once</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10</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548640" y="1691640"/>
            <a:ext cx="1691640" cy="50292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1800" b="1" i="0" dirty="0">
                <a:solidFill>
                  <a:srgbClr val="0072B2"/>
                </a:solidFill>
                <a:latin typeface="Arial"/>
                <a:cs typeface="Arial"/>
              </a:rPr>
              <a:t>2022</a:t>
            </a:r>
            <a:endParaRPr lang="en-GB" sz="1800"/>
          </a:p>
        </p:txBody>
      </p:sp>
      <p:sp>
        <p:nvSpPr>
          <p:cNvPr id="7" name="Shape 7"/>
          <p:cNvSpPr/>
          <p:nvPr/>
        </p:nvSpPr>
        <p:spPr>
          <a:xfrm>
            <a:off x="2286000" y="1691640"/>
            <a:ext cx="5120640" cy="50292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0" i="0" dirty="0">
                <a:solidFill>
                  <a:srgbClr val="1F2A44"/>
                </a:solidFill>
                <a:latin typeface="Arial"/>
                <a:cs typeface="Arial"/>
              </a:rPr>
              <a:t>PhD, Lund: built the Zambian dataset</a:t>
            </a:r>
            <a:endParaRPr lang="en-GB" sz="2000"/>
          </a:p>
        </p:txBody>
      </p:sp>
      <p:cxnSp>
        <p:nvCxnSpPr>
          <p:cNvPr id="8" name="Connector 8"/>
          <p:cNvCxnSpPr/>
          <p:nvPr/>
        </p:nvCxnSpPr>
        <p:spPr>
          <a:xfrm>
            <a:off x="548640" y="2221992"/>
            <a:ext cx="6766560" cy="0"/>
          </a:xfrm>
          <a:prstGeom prst="straightConnector1">
            <a:avLst/>
          </a:prstGeom>
          <a:ln w="12700">
            <a:solidFill>
              <a:srgbClr val="D5D9E0"/>
            </a:solidFill>
          </a:ln>
        </p:spPr>
      </p:cxnSp>
      <p:sp>
        <p:nvSpPr>
          <p:cNvPr id="9" name="Shape 9"/>
          <p:cNvSpPr/>
          <p:nvPr/>
        </p:nvSpPr>
        <p:spPr>
          <a:xfrm>
            <a:off x="548640" y="2240280"/>
            <a:ext cx="1691640" cy="50292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1800" b="1" i="0" dirty="0">
                <a:solidFill>
                  <a:srgbClr val="0072B2"/>
                </a:solidFill>
                <a:latin typeface="Arial"/>
                <a:cs typeface="Arial"/>
              </a:rPr>
              <a:t>2024</a:t>
            </a:r>
            <a:endParaRPr lang="en-GB" sz="1800"/>
          </a:p>
        </p:txBody>
      </p:sp>
      <p:sp>
        <p:nvSpPr>
          <p:cNvPr id="10" name="Shape 10"/>
          <p:cNvSpPr/>
          <p:nvPr/>
        </p:nvSpPr>
        <p:spPr>
          <a:xfrm>
            <a:off x="2286000" y="2240280"/>
            <a:ext cx="5120640" cy="50292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0" i="0" dirty="0">
                <a:solidFill>
                  <a:srgbClr val="1F2A44"/>
                </a:solidFill>
                <a:latin typeface="Arial"/>
                <a:cs typeface="Arial"/>
              </a:rPr>
              <a:t>Missions and HIV today (EHDR)</a:t>
            </a:r>
            <a:endParaRPr lang="en-GB" sz="2000"/>
          </a:p>
        </p:txBody>
      </p:sp>
      <p:cxnSp>
        <p:nvCxnSpPr>
          <p:cNvPr id="11" name="Connector 11"/>
          <p:cNvCxnSpPr/>
          <p:nvPr/>
        </p:nvCxnSpPr>
        <p:spPr>
          <a:xfrm>
            <a:off x="548640" y="2770632"/>
            <a:ext cx="6766560" cy="0"/>
          </a:xfrm>
          <a:prstGeom prst="straightConnector1">
            <a:avLst/>
          </a:prstGeom>
          <a:ln w="12700">
            <a:solidFill>
              <a:srgbClr val="D5D9E0"/>
            </a:solidFill>
          </a:ln>
        </p:spPr>
      </p:cxnSp>
      <p:sp>
        <p:nvSpPr>
          <p:cNvPr id="12" name="Shape 12"/>
          <p:cNvSpPr/>
          <p:nvPr/>
        </p:nvSpPr>
        <p:spPr>
          <a:xfrm>
            <a:off x="548640" y="2788920"/>
            <a:ext cx="1691640" cy="50292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1800" b="1" i="0" dirty="0">
                <a:solidFill>
                  <a:srgbClr val="0072B2"/>
                </a:solidFill>
                <a:latin typeface="Arial"/>
                <a:cs typeface="Arial"/>
              </a:rPr>
              <a:t>2024</a:t>
            </a:r>
            <a:endParaRPr lang="en-GB" sz="1800"/>
          </a:p>
        </p:txBody>
      </p:sp>
      <p:sp>
        <p:nvSpPr>
          <p:cNvPr id="13" name="Shape 13"/>
          <p:cNvSpPr/>
          <p:nvPr/>
        </p:nvSpPr>
        <p:spPr>
          <a:xfrm>
            <a:off x="2286000" y="2788920"/>
            <a:ext cx="5120640" cy="50292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0" i="0" dirty="0">
                <a:solidFill>
                  <a:srgbClr val="1F2A44"/>
                </a:solidFill>
                <a:latin typeface="Arial"/>
                <a:cs typeface="Arial"/>
              </a:rPr>
              <a:t>Open-access Springer monograph</a:t>
            </a:r>
            <a:endParaRPr lang="en-GB" sz="2000"/>
          </a:p>
        </p:txBody>
      </p:sp>
      <p:cxnSp>
        <p:nvCxnSpPr>
          <p:cNvPr id="14" name="Connector 14"/>
          <p:cNvCxnSpPr/>
          <p:nvPr/>
        </p:nvCxnSpPr>
        <p:spPr>
          <a:xfrm>
            <a:off x="548640" y="3319272"/>
            <a:ext cx="6766560" cy="0"/>
          </a:xfrm>
          <a:prstGeom prst="straightConnector1">
            <a:avLst/>
          </a:prstGeom>
          <a:ln w="12700">
            <a:solidFill>
              <a:srgbClr val="D5D9E0"/>
            </a:solidFill>
          </a:ln>
        </p:spPr>
      </p:cxnSp>
      <p:sp>
        <p:nvSpPr>
          <p:cNvPr id="15" name="Shape 15"/>
          <p:cNvSpPr/>
          <p:nvPr/>
        </p:nvSpPr>
        <p:spPr>
          <a:xfrm>
            <a:off x="548640" y="3337560"/>
            <a:ext cx="1691640" cy="50292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1800" b="1" i="0" dirty="0">
                <a:solidFill>
                  <a:srgbClr val="0072B2"/>
                </a:solidFill>
                <a:latin typeface="Arial"/>
                <a:cs typeface="Arial"/>
              </a:rPr>
              <a:t>2024</a:t>
            </a:r>
            <a:endParaRPr lang="en-GB" sz="1800"/>
          </a:p>
        </p:txBody>
      </p:sp>
      <p:sp>
        <p:nvSpPr>
          <p:cNvPr id="16" name="Shape 16"/>
          <p:cNvSpPr/>
          <p:nvPr/>
        </p:nvSpPr>
        <p:spPr>
          <a:xfrm>
            <a:off x="2286000" y="3337560"/>
            <a:ext cx="5120640" cy="50292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0" i="0" dirty="0">
                <a:solidFill>
                  <a:srgbClr val="1F2A44"/>
                </a:solidFill>
                <a:latin typeface="Arial"/>
                <a:cs typeface="Arial"/>
              </a:rPr>
              <a:t>Gender and schooling (with J. Bolt)</a:t>
            </a:r>
            <a:endParaRPr lang="en-GB" sz="2000"/>
          </a:p>
        </p:txBody>
      </p:sp>
      <p:cxnSp>
        <p:nvCxnSpPr>
          <p:cNvPr id="17" name="Connector 17"/>
          <p:cNvCxnSpPr/>
          <p:nvPr/>
        </p:nvCxnSpPr>
        <p:spPr>
          <a:xfrm>
            <a:off x="548640" y="3867912"/>
            <a:ext cx="6766560" cy="0"/>
          </a:xfrm>
          <a:prstGeom prst="straightConnector1">
            <a:avLst/>
          </a:prstGeom>
          <a:ln w="12700">
            <a:solidFill>
              <a:srgbClr val="D5D9E0"/>
            </a:solidFill>
          </a:ln>
        </p:spPr>
      </p:cxnSp>
      <p:sp>
        <p:nvSpPr>
          <p:cNvPr id="18" name="Shape 18"/>
          <p:cNvSpPr/>
          <p:nvPr/>
        </p:nvSpPr>
        <p:spPr>
          <a:xfrm>
            <a:off x="548640" y="3886200"/>
            <a:ext cx="1691640" cy="50292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1800" b="1" i="0" dirty="0">
                <a:solidFill>
                  <a:srgbClr val="0072B2"/>
                </a:solidFill>
                <a:latin typeface="Arial"/>
                <a:cs typeface="Arial"/>
              </a:rPr>
              <a:t>2025</a:t>
            </a:r>
            <a:endParaRPr lang="en-GB" sz="1800"/>
          </a:p>
        </p:txBody>
      </p:sp>
      <p:sp>
        <p:nvSpPr>
          <p:cNvPr id="19" name="Shape 19"/>
          <p:cNvSpPr/>
          <p:nvPr/>
        </p:nvSpPr>
        <p:spPr>
          <a:xfrm>
            <a:off x="2286000" y="3886200"/>
            <a:ext cx="5120640" cy="50292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0" i="0" dirty="0">
                <a:solidFill>
                  <a:srgbClr val="1F2A44"/>
                </a:solidFill>
                <a:latin typeface="Arial"/>
                <a:cs typeface="Arial"/>
              </a:rPr>
              <a:t>Mission healthcare (African Studies)</a:t>
            </a:r>
            <a:endParaRPr lang="en-GB" sz="2000"/>
          </a:p>
        </p:txBody>
      </p:sp>
      <p:cxnSp>
        <p:nvCxnSpPr>
          <p:cNvPr id="20" name="Connector 20"/>
          <p:cNvCxnSpPr/>
          <p:nvPr/>
        </p:nvCxnSpPr>
        <p:spPr>
          <a:xfrm>
            <a:off x="548640" y="4416552"/>
            <a:ext cx="6766560" cy="0"/>
          </a:xfrm>
          <a:prstGeom prst="straightConnector1">
            <a:avLst/>
          </a:prstGeom>
          <a:ln w="12700">
            <a:solidFill>
              <a:srgbClr val="D5D9E0"/>
            </a:solidFill>
          </a:ln>
        </p:spPr>
      </p:cxnSp>
      <p:sp>
        <p:nvSpPr>
          <p:cNvPr id="21" name="Shape 21"/>
          <p:cNvSpPr/>
          <p:nvPr/>
        </p:nvSpPr>
        <p:spPr>
          <a:xfrm>
            <a:off x="548640" y="4434840"/>
            <a:ext cx="1691640" cy="50292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1800" b="1" i="0" dirty="0">
                <a:solidFill>
                  <a:srgbClr val="0072B2"/>
                </a:solidFill>
                <a:latin typeface="Arial"/>
                <a:cs typeface="Arial"/>
              </a:rPr>
              <a:t>Forthcoming</a:t>
            </a:r>
            <a:endParaRPr lang="en-GB" sz="1800"/>
          </a:p>
        </p:txBody>
      </p:sp>
      <p:sp>
        <p:nvSpPr>
          <p:cNvPr id="22" name="Shape 22"/>
          <p:cNvSpPr/>
          <p:nvPr/>
        </p:nvSpPr>
        <p:spPr>
          <a:xfrm>
            <a:off x="2286000" y="4434840"/>
            <a:ext cx="5120640" cy="50292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0" i="0" dirty="0">
                <a:solidFill>
                  <a:srgbClr val="1F2A44"/>
                </a:solidFill>
                <a:latin typeface="Arial"/>
                <a:cs typeface="Arial"/>
              </a:rPr>
              <a:t>IV design: missions and wealth (Elgar)</a:t>
            </a:r>
            <a:endParaRPr lang="en-GB" sz="2000"/>
          </a:p>
        </p:txBody>
      </p:sp>
      <p:cxnSp>
        <p:nvCxnSpPr>
          <p:cNvPr id="23" name="Connector 23"/>
          <p:cNvCxnSpPr/>
          <p:nvPr/>
        </p:nvCxnSpPr>
        <p:spPr>
          <a:xfrm>
            <a:off x="548640" y="4965192"/>
            <a:ext cx="6766560" cy="0"/>
          </a:xfrm>
          <a:prstGeom prst="straightConnector1">
            <a:avLst/>
          </a:prstGeom>
          <a:ln w="12700">
            <a:solidFill>
              <a:srgbClr val="D5D9E0"/>
            </a:solidFill>
          </a:ln>
        </p:spPr>
      </p:cxnSp>
      <p:sp>
        <p:nvSpPr>
          <p:cNvPr id="24" name="Shape 24"/>
          <p:cNvSpPr/>
          <p:nvPr/>
        </p:nvSpPr>
        <p:spPr>
          <a:xfrm>
            <a:off x="548640" y="4983480"/>
            <a:ext cx="1691640" cy="50292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1800" b="1" i="0" dirty="0">
                <a:solidFill>
                  <a:srgbClr val="0072B2"/>
                </a:solidFill>
                <a:latin typeface="Arial"/>
                <a:cs typeface="Arial"/>
              </a:rPr>
              <a:t>Postdoc</a:t>
            </a:r>
            <a:endParaRPr lang="en-GB" sz="1800"/>
          </a:p>
        </p:txBody>
      </p:sp>
      <p:sp>
        <p:nvSpPr>
          <p:cNvPr id="25" name="Shape 25"/>
          <p:cNvSpPr/>
          <p:nvPr/>
        </p:nvSpPr>
        <p:spPr>
          <a:xfrm>
            <a:off x="2286000" y="4983480"/>
            <a:ext cx="5120640" cy="502920"/>
          </a:xfrm>
          <a:prstGeom prst="rect">
            <a:avLst/>
          </a:prstGeom>
          <a:noFill/>
          <a:ln>
            <a:noFill/>
          </a:ln>
        </p:spPr>
        <p:txBody>
          <a:bodyPr wrap="square" lIns="91440" tIns="45720" rIns="91440" bIns="45720" anchor="ctr" rtlCol="0">
            <a:noAutofit/>
          </a:bodyPr>
          <a:lstStyle/>
          <a:p>
            <a:pPr algn="l">
              <a:lnSpc>
                <a:spcPct val="100000"/>
              </a:lnSpc>
              <a:spcAft>
                <a:spcPts val="600"/>
              </a:spcAft>
              <a:buNone/>
            </a:pPr>
            <a:r>
              <a:rPr lang="en-GB" sz="2000" b="0" i="0" dirty="0">
                <a:solidFill>
                  <a:srgbClr val="1F2A44"/>
                </a:solidFill>
                <a:latin typeface="Arial"/>
                <a:cs typeface="Arial"/>
              </a:rPr>
              <a:t>Six months of fieldwork in rural Zambia</a:t>
            </a:r>
            <a:endParaRPr lang="en-GB" sz="2000"/>
          </a:p>
        </p:txBody>
      </p:sp>
      <p:cxnSp>
        <p:nvCxnSpPr>
          <p:cNvPr id="26" name="Connector 26"/>
          <p:cNvCxnSpPr/>
          <p:nvPr/>
        </p:nvCxnSpPr>
        <p:spPr>
          <a:xfrm>
            <a:off x="548640" y="5513832"/>
            <a:ext cx="6766560" cy="0"/>
          </a:xfrm>
          <a:prstGeom prst="straightConnector1">
            <a:avLst/>
          </a:prstGeom>
          <a:ln w="12700">
            <a:solidFill>
              <a:srgbClr val="D5D9E0"/>
            </a:solidFill>
          </a:ln>
        </p:spPr>
      </p:cxnSp>
      <p:sp>
        <p:nvSpPr>
          <p:cNvPr id="27" name="Shape 27"/>
          <p:cNvSpPr/>
          <p:nvPr/>
        </p:nvSpPr>
        <p:spPr>
          <a:xfrm>
            <a:off x="548640" y="5596128"/>
            <a:ext cx="6766560" cy="640080"/>
          </a:xfrm>
          <a:prstGeom prst="rect">
            <a:avLst/>
          </a:prstGeom>
          <a:noFill/>
          <a:ln>
            <a:noFill/>
          </a:ln>
        </p:spPr>
        <p:txBody>
          <a:bodyPr wrap="square" lIns="91440" tIns="45720" rIns="91440" bIns="45720" anchor="t" rtlCol="0">
            <a:noAutofit/>
          </a:bodyPr>
          <a:lstStyle/>
          <a:p>
            <a:pPr algn="l">
              <a:lnSpc>
                <a:spcPct val="100000"/>
              </a:lnSpc>
              <a:spcAft>
                <a:spcPts val="600"/>
              </a:spcAft>
              <a:buNone/>
            </a:pPr>
            <a:r>
              <a:rPr lang="en-GB" sz="1600" b="0" i="0" dirty="0">
                <a:solidFill>
                  <a:srgbClr val="5F6B7A"/>
                </a:solidFill>
                <a:latin typeface="Arial"/>
                <a:cs typeface="Arial"/>
              </a:rPr>
              <a:t>Sole author: thesis, monograph, EHDR, African Studies, Elgar chapter</a:t>
            </a:r>
            <a:endParaRPr lang="en-GB" sz="1600"/>
          </a:p>
        </p:txBody>
      </p:sp>
      <p:sp>
        <p:nvSpPr>
          <p:cNvPr id="28" name="Shape 28"/>
          <p:cNvSpPr/>
          <p:nvPr/>
        </p:nvSpPr>
        <p:spPr>
          <a:xfrm>
            <a:off x="7680960" y="1691640"/>
            <a:ext cx="3959352" cy="4206240"/>
          </a:xfrm>
          <a:prstGeom prst="rect">
            <a:avLst/>
          </a:prstGeom>
          <a:solidFill>
            <a:srgbClr val="DCEBF7"/>
          </a:solidFill>
          <a:ln>
            <a:noFill/>
          </a:ln>
        </p:spPr>
        <p:txBody>
          <a:bodyPr wrap="square" lIns="182880" tIns="91440" rIns="182880" bIns="91440" anchor="t" rtlCol="0">
            <a:noAutofit/>
          </a:bodyPr>
          <a:lstStyle/>
          <a:p>
            <a:pPr algn="l">
              <a:lnSpc>
                <a:spcPct val="100000"/>
              </a:lnSpc>
              <a:spcAft>
                <a:spcPts val="1000"/>
              </a:spcAft>
              <a:buNone/>
            </a:pPr>
            <a:r>
              <a:rPr lang="en-GB" sz="2400" b="1" i="0" dirty="0">
                <a:solidFill>
                  <a:srgbClr val="1F2A44"/>
                </a:solidFill>
                <a:latin typeface="Arial"/>
                <a:cs typeface="Arial"/>
              </a:rPr>
              <a:t>This award adds</a:t>
            </a:r>
            <a:endParaRPr lang="en-GB" sz="2400"/>
          </a:p>
          <a:p>
            <a:pPr algn="l" marL="342900" indent="-342900">
              <a:lnSpc>
                <a:spcPct val="100000"/>
              </a:lnSpc>
              <a:spcAft>
                <a:spcPts val="1000"/>
              </a:spcAft>
              <a:buFont typeface="Arial"/>
              <a:buChar char="•"/>
            </a:pPr>
            <a:r>
              <a:rPr lang="en-GB" sz="2200" b="0" i="0" dirty="0">
                <a:solidFill>
                  <a:srgbClr val="1F2A44"/>
                </a:solidFill>
                <a:latin typeface="Arial"/>
                <a:cs typeface="Arial"/>
              </a:rPr>
              <a:t>Scaling across many archives</a:t>
            </a:r>
            <a:endParaRPr lang="en-GB" sz="2200"/>
          </a:p>
          <a:p>
            <a:pPr algn="l" marL="342900" indent="-342900">
              <a:lnSpc>
                <a:spcPct val="100000"/>
              </a:lnSpc>
              <a:spcAft>
                <a:spcPts val="1000"/>
              </a:spcAft>
              <a:buFont typeface="Arial"/>
              <a:buChar char="•"/>
            </a:pPr>
            <a:r>
              <a:rPr lang="en-GB" sz="2200" b="0" i="0" dirty="0">
                <a:solidFill>
                  <a:srgbClr val="1F2A44"/>
                </a:solidFill>
                <a:latin typeface="Arial"/>
                <a:cs typeface="Arial"/>
              </a:rPr>
              <a:t>Causal mediation</a:t>
            </a:r>
            <a:endParaRPr lang="en-GB" sz="2200"/>
          </a:p>
          <a:p>
            <a:pPr algn="l" marL="342900" indent="-342900">
              <a:lnSpc>
                <a:spcPct val="100000"/>
              </a:lnSpc>
              <a:spcAft>
                <a:spcPts val="1000"/>
              </a:spcAft>
              <a:buFont typeface="Arial"/>
              <a:buChar char="•"/>
            </a:pPr>
            <a:r>
              <a:rPr lang="en-GB" sz="2200" b="0" i="0" dirty="0">
                <a:solidFill>
                  <a:srgbClr val="1F2A44"/>
                </a:solidFill>
                <a:latin typeface="Arial"/>
                <a:cs typeface="Arial"/>
              </a:rPr>
              <a:t>Spatial epidemiology</a:t>
            </a:r>
            <a:endParaRPr lang="en-GB" sz="2200"/>
          </a:p>
          <a:p>
            <a:pPr algn="l" marL="342900" indent="-342900">
              <a:lnSpc>
                <a:spcPct val="100000"/>
              </a:lnSpc>
              <a:spcAft>
                <a:spcPts val="1000"/>
              </a:spcAft>
              <a:buFont typeface="Arial"/>
              <a:buChar char="•"/>
            </a:pPr>
            <a:r>
              <a:rPr lang="en-GB" sz="2200" b="0" i="0" dirty="0">
                <a:solidFill>
                  <a:srgbClr val="1F2A44"/>
                </a:solidFill>
                <a:latin typeface="Arial"/>
                <a:cs typeface="Arial"/>
              </a:rPr>
              <a:t>Leading a team</a:t>
            </a:r>
            <a:endParaRPr lang="en-GB" sz="2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Stellenbosch gives me the historical-data core; partners bring the health expertise</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11</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cxnSp>
        <p:nvCxnSpPr>
          <p:cNvPr id="6" name="Connector 6"/>
          <p:cNvCxnSpPr/>
          <p:nvPr/>
        </p:nvCxnSpPr>
        <p:spPr>
          <a:xfrm>
            <a:off x="4114800" y="2217420"/>
            <a:ext cx="384048" cy="1554480"/>
          </a:xfrm>
          <a:prstGeom prst="straightConnector1">
            <a:avLst/>
          </a:prstGeom>
          <a:ln w="25400">
            <a:solidFill>
              <a:srgbClr val="7F8C9A"/>
            </a:solidFill>
          </a:ln>
        </p:spPr>
      </p:cxnSp>
      <p:sp>
        <p:nvSpPr>
          <p:cNvPr id="7" name="Shape 7"/>
          <p:cNvSpPr/>
          <p:nvPr/>
        </p:nvSpPr>
        <p:spPr>
          <a:xfrm>
            <a:off x="548640" y="1691640"/>
            <a:ext cx="3566160" cy="1051560"/>
          </a:xfrm>
          <a:prstGeom prst="roundRect">
            <a:avLst/>
          </a:prstGeom>
          <a:solidFill>
            <a:srgbClr val="DCEBF7"/>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LEAP, Prof. Johan Fourie: sponsor and mentor</a:t>
            </a:r>
            <a:endParaRPr lang="en-GB" sz="2000"/>
          </a:p>
        </p:txBody>
      </p:sp>
      <p:cxnSp>
        <p:nvCxnSpPr>
          <p:cNvPr id="8" name="Connector 8"/>
          <p:cNvCxnSpPr/>
          <p:nvPr/>
        </p:nvCxnSpPr>
        <p:spPr>
          <a:xfrm>
            <a:off x="4114800" y="3771900"/>
            <a:ext cx="384048" cy="0"/>
          </a:xfrm>
          <a:prstGeom prst="straightConnector1">
            <a:avLst/>
          </a:prstGeom>
          <a:ln w="25400">
            <a:solidFill>
              <a:srgbClr val="7F8C9A"/>
            </a:solidFill>
          </a:ln>
        </p:spPr>
      </p:cxnSp>
      <p:sp>
        <p:nvSpPr>
          <p:cNvPr id="9" name="Shape 9"/>
          <p:cNvSpPr/>
          <p:nvPr/>
        </p:nvSpPr>
        <p:spPr>
          <a:xfrm>
            <a:off x="548640" y="3246120"/>
            <a:ext cx="3566160" cy="1051560"/>
          </a:xfrm>
          <a:prstGeom prst="roundRect">
            <a:avLst/>
          </a:prstGeom>
          <a:solidFill>
            <a:srgbClr val="DCEBF7"/>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LEAP colleagues digitising African historical records</a:t>
            </a:r>
            <a:endParaRPr lang="en-GB" sz="2000"/>
          </a:p>
        </p:txBody>
      </p:sp>
      <p:cxnSp>
        <p:nvCxnSpPr>
          <p:cNvPr id="10" name="Connector 10"/>
          <p:cNvCxnSpPr/>
          <p:nvPr/>
        </p:nvCxnSpPr>
        <p:spPr>
          <a:xfrm flipV="1">
            <a:off x="4114800" y="3771900"/>
            <a:ext cx="384048" cy="1554480"/>
          </a:xfrm>
          <a:prstGeom prst="straightConnector1">
            <a:avLst/>
          </a:prstGeom>
          <a:ln w="25400">
            <a:solidFill>
              <a:srgbClr val="7F8C9A"/>
            </a:solidFill>
          </a:ln>
        </p:spPr>
      </p:cxnSp>
      <p:sp>
        <p:nvSpPr>
          <p:cNvPr id="11" name="Shape 11"/>
          <p:cNvSpPr/>
          <p:nvPr/>
        </p:nvSpPr>
        <p:spPr>
          <a:xfrm>
            <a:off x="548640" y="4800600"/>
            <a:ext cx="3566160" cy="1051560"/>
          </a:xfrm>
          <a:prstGeom prst="roundRect">
            <a:avLst/>
          </a:prstGeom>
          <a:solidFill>
            <a:srgbClr val="DCEBF7"/>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Centre for Geographical Analysis: GIS training</a:t>
            </a:r>
            <a:endParaRPr lang="en-GB" sz="2000"/>
          </a:p>
        </p:txBody>
      </p:sp>
      <p:cxnSp>
        <p:nvCxnSpPr>
          <p:cNvPr id="12" name="Connector 12"/>
          <p:cNvCxnSpPr/>
          <p:nvPr/>
        </p:nvCxnSpPr>
        <p:spPr>
          <a:xfrm flipH="1">
            <a:off x="7699248" y="2217420"/>
            <a:ext cx="374904" cy="1554480"/>
          </a:xfrm>
          <a:prstGeom prst="straightConnector1">
            <a:avLst/>
          </a:prstGeom>
          <a:ln w="25400">
            <a:solidFill>
              <a:srgbClr val="7F8C9A"/>
            </a:solidFill>
          </a:ln>
        </p:spPr>
      </p:cxnSp>
      <p:sp>
        <p:nvSpPr>
          <p:cNvPr id="13" name="Shape 13"/>
          <p:cNvSpPr/>
          <p:nvPr/>
        </p:nvSpPr>
        <p:spPr>
          <a:xfrm>
            <a:off x="8074152" y="1691640"/>
            <a:ext cx="3566160" cy="1051560"/>
          </a:xfrm>
          <a:prstGeom prst="roundRect">
            <a:avLst/>
          </a:prstGeom>
          <a:solidFill>
            <a:srgbClr val="FCEBD0"/>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Advisory group: health systems [name], qualitative [name]</a:t>
            </a:r>
            <a:endParaRPr lang="en-GB" sz="2000"/>
          </a:p>
        </p:txBody>
      </p:sp>
      <p:cxnSp>
        <p:nvCxnSpPr>
          <p:cNvPr id="14" name="Connector 14"/>
          <p:cNvCxnSpPr/>
          <p:nvPr/>
        </p:nvCxnSpPr>
        <p:spPr>
          <a:xfrm flipH="1">
            <a:off x="7699248" y="3771900"/>
            <a:ext cx="374904" cy="0"/>
          </a:xfrm>
          <a:prstGeom prst="straightConnector1">
            <a:avLst/>
          </a:prstGeom>
          <a:ln w="25400">
            <a:solidFill>
              <a:srgbClr val="7F8C9A"/>
            </a:solidFill>
          </a:ln>
        </p:spPr>
      </p:cxnSp>
      <p:sp>
        <p:nvSpPr>
          <p:cNvPr id="15" name="Shape 15"/>
          <p:cNvSpPr/>
          <p:nvPr/>
        </p:nvSpPr>
        <p:spPr>
          <a:xfrm>
            <a:off x="8074152" y="3246120"/>
            <a:ext cx="3566160" cy="1051560"/>
          </a:xfrm>
          <a:prstGeom prst="roundRect">
            <a:avLst/>
          </a:prstGeom>
          <a:solidFill>
            <a:srgbClr val="FCEBD0"/>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Zambia: [partner], fieldwork team, communities</a:t>
            </a:r>
            <a:endParaRPr lang="en-GB" sz="2000"/>
          </a:p>
        </p:txBody>
      </p:sp>
      <p:cxnSp>
        <p:nvCxnSpPr>
          <p:cNvPr id="16" name="Connector 16"/>
          <p:cNvCxnSpPr/>
          <p:nvPr/>
        </p:nvCxnSpPr>
        <p:spPr>
          <a:xfrm flipH="1" flipV="1">
            <a:off x="7699248" y="3771900"/>
            <a:ext cx="374904" cy="1554480"/>
          </a:xfrm>
          <a:prstGeom prst="straightConnector1">
            <a:avLst/>
          </a:prstGeom>
          <a:ln w="25400">
            <a:solidFill>
              <a:srgbClr val="7F8C9A"/>
            </a:solidFill>
          </a:ln>
        </p:spPr>
      </p:cxnSp>
      <p:sp>
        <p:nvSpPr>
          <p:cNvPr id="17" name="Shape 17"/>
          <p:cNvSpPr/>
          <p:nvPr/>
        </p:nvSpPr>
        <p:spPr>
          <a:xfrm>
            <a:off x="8074152" y="4800600"/>
            <a:ext cx="3566160" cy="1051560"/>
          </a:xfrm>
          <a:prstGeom prst="roundRect">
            <a:avLst/>
          </a:prstGeom>
          <a:solidFill>
            <a:srgbClr val="EEF1F5"/>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Networks: AEHN, WEHC, KEMRI-Wellcome facility data</a:t>
            </a:r>
            <a:endParaRPr lang="en-GB" sz="2000"/>
          </a:p>
        </p:txBody>
      </p:sp>
      <p:sp>
        <p:nvSpPr>
          <p:cNvPr id="18" name="Shape 18"/>
          <p:cNvSpPr/>
          <p:nvPr/>
        </p:nvSpPr>
        <p:spPr>
          <a:xfrm>
            <a:off x="4498848" y="3246120"/>
            <a:ext cx="3200400" cy="1051560"/>
          </a:xfrm>
          <a:prstGeom prst="roundRect">
            <a:avLst/>
          </a:prstGeom>
          <a:solidFill>
            <a:srgbClr val="1F2A44"/>
          </a:solidFill>
          <a:ln>
            <a:noFill/>
          </a:ln>
        </p:spPr>
        <p:txBody>
          <a:bodyPr wrap="square" lIns="91440" tIns="45720" rIns="91440" bIns="45720" anchor="ctr" rtlCol="0">
            <a:noAutofit/>
          </a:bodyPr>
          <a:lstStyle/>
          <a:p>
            <a:pPr algn="ctr">
              <a:lnSpc>
                <a:spcPct val="100000"/>
              </a:lnSpc>
              <a:spcAft>
                <a:spcPts val="600"/>
              </a:spcAft>
              <a:buNone/>
            </a:pPr>
            <a:r>
              <a:rPr lang="en-GB" sz="2200" b="1" i="0" dirty="0">
                <a:solidFill>
                  <a:srgbClr val="FFFFFF"/>
                </a:solidFill>
                <a:latin typeface="Arial"/>
                <a:cs typeface="Arial"/>
              </a:rPr>
              <a:t>Me and the research assistant</a:t>
            </a:r>
            <a:endParaRPr lang="en-GB" sz="2200"/>
          </a:p>
        </p:txBody>
      </p:sp>
      <p:sp>
        <p:nvSpPr>
          <p:cNvPr id="19" name="Shape 19"/>
          <p:cNvSpPr/>
          <p:nvPr/>
        </p:nvSpPr>
        <p:spPr>
          <a:xfrm>
            <a:off x="548640" y="5925312"/>
            <a:ext cx="11091672" cy="411480"/>
          </a:xfrm>
          <a:prstGeom prst="rect">
            <a:avLst/>
          </a:prstGeom>
          <a:noFill/>
          <a:ln>
            <a:noFill/>
          </a:ln>
        </p:spPr>
        <p:txBody>
          <a:bodyPr wrap="square" lIns="91440" tIns="45720" rIns="91440" bIns="45720" anchor="t" rtlCol="0">
            <a:noAutofit/>
          </a:bodyPr>
          <a:lstStyle/>
          <a:p>
            <a:pPr algn="ctr">
              <a:lnSpc>
                <a:spcPct val="100000"/>
              </a:lnSpc>
              <a:spcAft>
                <a:spcPts val="600"/>
              </a:spcAft>
              <a:buNone/>
            </a:pPr>
            <a:r>
              <a:rPr lang="en-GB" sz="1800" b="0" i="0" dirty="0">
                <a:solidFill>
                  <a:srgbClr val="5F6B7A"/>
                </a:solidFill>
                <a:latin typeface="Arial"/>
                <a:cs typeface="Arial"/>
              </a:rPr>
              <a:t>An African host: close to field sites and policy audiences, and the skills stay on the continent</a:t>
            </a:r>
            <a:endParaRPr lang="en-GB"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How I'll run the team</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12</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548640" y="1691640"/>
            <a:ext cx="5440680" cy="1828800"/>
          </a:xfrm>
          <a:prstGeom prst="rect">
            <a:avLst/>
          </a:prstGeom>
          <a:solidFill>
            <a:srgbClr val="DCEBF7"/>
          </a:solidFill>
          <a:ln>
            <a:noFill/>
          </a:ln>
        </p:spPr>
        <p:txBody>
          <a:bodyPr wrap="square" lIns="182880" tIns="91440" rIns="182880" bIns="91440" anchor="t" rtlCol="0">
            <a:noAutofit/>
          </a:bodyPr>
          <a:lstStyle/>
          <a:p>
            <a:pPr algn="l">
              <a:lnSpc>
                <a:spcPct val="100000"/>
              </a:lnSpc>
              <a:spcAft>
                <a:spcPts val="600"/>
              </a:spcAft>
              <a:buNone/>
            </a:pPr>
            <a:r>
              <a:rPr lang="en-GB" sz="2400" b="1" i="0" dirty="0">
                <a:solidFill>
                  <a:srgbClr val="1F2A44"/>
                </a:solidFill>
                <a:latin typeface="Arial"/>
                <a:cs typeface="Arial"/>
              </a:rPr>
              <a:t>Train the research assistant</a:t>
            </a:r>
            <a:endParaRPr lang="en-GB" sz="2400"/>
          </a:p>
          <a:p>
            <a:pPr algn="l">
              <a:lnSpc>
                <a:spcPct val="100000"/>
              </a:lnSpc>
              <a:spcAft>
                <a:spcPts val="600"/>
              </a:spcAft>
              <a:buNone/>
            </a:pPr>
            <a:r>
              <a:rPr lang="en-GB" sz="2000" b="0" i="0" dirty="0">
                <a:solidFill>
                  <a:srgbClr val="1F2A44"/>
                </a:solidFill>
                <a:latin typeface="Arial"/>
                <a:cs typeface="Arial"/>
              </a:rPr>
              <a:t>Written development plan; archival, GIS and data skills; co-authorship on the data paper when earned</a:t>
            </a:r>
            <a:endParaRPr lang="en-GB" sz="2000"/>
          </a:p>
        </p:txBody>
      </p:sp>
      <p:sp>
        <p:nvSpPr>
          <p:cNvPr id="7" name="Shape 7"/>
          <p:cNvSpPr/>
          <p:nvPr/>
        </p:nvSpPr>
        <p:spPr>
          <a:xfrm>
            <a:off x="6199632" y="1691640"/>
            <a:ext cx="5440680" cy="1828800"/>
          </a:xfrm>
          <a:prstGeom prst="rect">
            <a:avLst/>
          </a:prstGeom>
          <a:solidFill>
            <a:srgbClr val="FCEBD0"/>
          </a:solidFill>
          <a:ln>
            <a:noFill/>
          </a:ln>
        </p:spPr>
        <p:txBody>
          <a:bodyPr wrap="square" lIns="182880" tIns="91440" rIns="182880" bIns="91440" anchor="t" rtlCol="0">
            <a:noAutofit/>
          </a:bodyPr>
          <a:lstStyle/>
          <a:p>
            <a:pPr algn="l">
              <a:lnSpc>
                <a:spcPct val="100000"/>
              </a:lnSpc>
              <a:spcAft>
                <a:spcPts val="600"/>
              </a:spcAft>
              <a:buNone/>
            </a:pPr>
            <a:r>
              <a:rPr lang="en-GB" sz="2400" b="1" i="0" dirty="0">
                <a:solidFill>
                  <a:srgbClr val="1F2A44"/>
                </a:solidFill>
                <a:latin typeface="Arial"/>
                <a:cs typeface="Arial"/>
              </a:rPr>
              <a:t>Fair pay and credit in Zambia</a:t>
            </a:r>
            <a:endParaRPr lang="en-GB" sz="2400"/>
          </a:p>
          <a:p>
            <a:pPr algn="l">
              <a:lnSpc>
                <a:spcPct val="100000"/>
              </a:lnSpc>
              <a:spcAft>
                <a:spcPts val="600"/>
              </a:spcAft>
              <a:buNone/>
            </a:pPr>
            <a:r>
              <a:rPr lang="en-GB" sz="2000" b="0" i="0" dirty="0">
                <a:solidFill>
                  <a:srgbClr val="1F2A44"/>
                </a:solidFill>
                <a:latin typeface="Arial"/>
                <a:cs typeface="Arial"/>
              </a:rPr>
              <a:t>Fieldwork staff trained, paid at fair local rates, credited by name</a:t>
            </a:r>
            <a:endParaRPr lang="en-GB" sz="2000"/>
          </a:p>
        </p:txBody>
      </p:sp>
      <p:sp>
        <p:nvSpPr>
          <p:cNvPr id="8" name="Shape 8"/>
          <p:cNvSpPr/>
          <p:nvPr/>
        </p:nvSpPr>
        <p:spPr>
          <a:xfrm>
            <a:off x="548640" y="3657600"/>
            <a:ext cx="5440680" cy="1828800"/>
          </a:xfrm>
          <a:prstGeom prst="rect">
            <a:avLst/>
          </a:prstGeom>
          <a:solidFill>
            <a:srgbClr val="D9F0E8"/>
          </a:solidFill>
          <a:ln>
            <a:noFill/>
          </a:ln>
        </p:spPr>
        <p:txBody>
          <a:bodyPr wrap="square" lIns="182880" tIns="91440" rIns="182880" bIns="91440" anchor="t" rtlCol="0">
            <a:noAutofit/>
          </a:bodyPr>
          <a:lstStyle/>
          <a:p>
            <a:pPr algn="l">
              <a:lnSpc>
                <a:spcPct val="100000"/>
              </a:lnSpc>
              <a:spcAft>
                <a:spcPts val="600"/>
              </a:spcAft>
              <a:buNone/>
            </a:pPr>
            <a:r>
              <a:rPr lang="en-GB" sz="2400" b="1" i="0" dirty="0">
                <a:solidFill>
                  <a:srgbClr val="1F2A44"/>
                </a:solidFill>
                <a:latin typeface="Arial"/>
                <a:cs typeface="Arial"/>
              </a:rPr>
              <a:t>Communities see results first</a:t>
            </a:r>
            <a:endParaRPr lang="en-GB" sz="2400"/>
          </a:p>
          <a:p>
            <a:pPr algn="l">
              <a:lnSpc>
                <a:spcPct val="100000"/>
              </a:lnSpc>
              <a:spcAft>
                <a:spcPts val="600"/>
              </a:spcAft>
              <a:buNone/>
            </a:pPr>
            <a:r>
              <a:rPr lang="en-GB" sz="2000" b="0" i="0" dirty="0">
                <a:solidFill>
                  <a:srgbClr val="1F2A44"/>
                </a:solidFill>
                <a:latin typeface="Arial"/>
                <a:cs typeface="Arial"/>
              </a:rPr>
              <a:t>Feedback visit to review and interpret findings before publication</a:t>
            </a:r>
            <a:endParaRPr lang="en-GB" sz="2000"/>
          </a:p>
        </p:txBody>
      </p:sp>
      <p:sp>
        <p:nvSpPr>
          <p:cNvPr id="9" name="Shape 9"/>
          <p:cNvSpPr/>
          <p:nvPr/>
        </p:nvSpPr>
        <p:spPr>
          <a:xfrm>
            <a:off x="6199632" y="3657600"/>
            <a:ext cx="5440680" cy="1828800"/>
          </a:xfrm>
          <a:prstGeom prst="rect">
            <a:avLst/>
          </a:prstGeom>
          <a:solidFill>
            <a:srgbClr val="EEF1F5"/>
          </a:solidFill>
          <a:ln>
            <a:noFill/>
          </a:ln>
        </p:spPr>
        <p:txBody>
          <a:bodyPr wrap="square" lIns="182880" tIns="91440" rIns="182880" bIns="91440" anchor="t" rtlCol="0">
            <a:noAutofit/>
          </a:bodyPr>
          <a:lstStyle/>
          <a:p>
            <a:pPr algn="l">
              <a:lnSpc>
                <a:spcPct val="100000"/>
              </a:lnSpc>
              <a:spcAft>
                <a:spcPts val="600"/>
              </a:spcAft>
              <a:buNone/>
            </a:pPr>
            <a:r>
              <a:rPr lang="en-GB" sz="2400" b="1" i="0" dirty="0">
                <a:solidFill>
                  <a:srgbClr val="1F2A44"/>
                </a:solidFill>
                <a:latin typeface="Arial"/>
                <a:cs typeface="Arial"/>
              </a:rPr>
              <a:t>Open by default</a:t>
            </a:r>
            <a:endParaRPr lang="en-GB" sz="2400"/>
          </a:p>
          <a:p>
            <a:pPr algn="l">
              <a:lnSpc>
                <a:spcPct val="100000"/>
              </a:lnSpc>
              <a:spcAft>
                <a:spcPts val="600"/>
              </a:spcAft>
              <a:buNone/>
            </a:pPr>
            <a:r>
              <a:rPr lang="en-GB" sz="2000" b="0" i="0" dirty="0">
                <a:solidFill>
                  <a:srgbClr val="1F2A44"/>
                </a:solidFill>
                <a:latin typeface="Arial"/>
                <a:cs typeface="Arial"/>
              </a:rPr>
              <a:t>Dataset, code and papers openly available; pre-analysis plan</a:t>
            </a:r>
            <a:endParaRPr lang="en-GB" sz="2000"/>
          </a:p>
        </p:txBody>
      </p:sp>
      <p:sp>
        <p:nvSpPr>
          <p:cNvPr id="10" name="Shape 10"/>
          <p:cNvSpPr/>
          <p:nvPr/>
        </p:nvSpPr>
        <p:spPr>
          <a:xfrm>
            <a:off x="548640" y="5623560"/>
            <a:ext cx="11091672" cy="457200"/>
          </a:xfrm>
          <a:prstGeom prst="rect">
            <a:avLst/>
          </a:prstGeom>
          <a:noFill/>
          <a:ln>
            <a:noFill/>
          </a:ln>
        </p:spPr>
        <p:txBody>
          <a:bodyPr wrap="square" lIns="91440" tIns="45720" rIns="91440" bIns="45720" anchor="t" rtlCol="0">
            <a:noAutofit/>
          </a:bodyPr>
          <a:lstStyle/>
          <a:p>
            <a:pPr algn="l">
              <a:lnSpc>
                <a:spcPct val="100000"/>
              </a:lnSpc>
              <a:spcAft>
                <a:spcPts val="600"/>
              </a:spcAft>
              <a:buNone/>
            </a:pPr>
            <a:r>
              <a:rPr lang="en-GB" sz="1800" b="0" i="1" dirty="0">
                <a:solidFill>
                  <a:srgbClr val="5F6B7A"/>
                </a:solidFill>
                <a:latin typeface="Arial"/>
                <a:cs typeface="Arial"/>
              </a:rPr>
              <a:t>[Optional: flexible working, from my own experience of parental leave]</a:t>
            </a:r>
            <a:endParaRPr lang="en-GB"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If trust is the lever, buildings alone won't close the gap</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13</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548640" y="1828800"/>
            <a:ext cx="11091672" cy="1371600"/>
          </a:xfrm>
          <a:prstGeom prst="rect">
            <a:avLst/>
          </a:prstGeom>
          <a:noFill/>
          <a:ln>
            <a:noFill/>
          </a:ln>
        </p:spPr>
        <p:txBody>
          <a:bodyPr wrap="square" lIns="91440" tIns="45720" rIns="91440" bIns="45720" anchor="t" rtlCol="0">
            <a:noAutofit/>
          </a:bodyPr>
          <a:lstStyle/>
          <a:p>
            <a:pPr algn="l">
              <a:lnSpc>
                <a:spcPct val="100000"/>
              </a:lnSpc>
              <a:spcAft>
                <a:spcPts val="600"/>
              </a:spcAft>
              <a:buNone/>
            </a:pPr>
            <a:r>
              <a:rPr lang="en-GB" sz="2800" b="1" i="0" dirty="0">
                <a:solidFill>
                  <a:srgbClr val="0072B2"/>
                </a:solidFill>
                <a:latin typeface="Arial"/>
                <a:cs typeface="Arial"/>
              </a:rPr>
              <a:t>If I'm right:  </a:t>
            </a:r>
            <a:r>
              <a:rPr lang="en-GB" sz="2800" b="0" i="0" dirty="0">
                <a:solidFill>
                  <a:srgbClr val="1F2A44"/>
                </a:solidFill>
                <a:latin typeface="Arial"/>
                <a:cs typeface="Arial"/>
              </a:rPr>
              <a:t>part of Africa's health inequality is historical, and trust is a lever that infrastructure alone won't move.</a:t>
            </a:r>
            <a:endParaRPr lang="en-GB" sz="2800"/>
          </a:p>
        </p:txBody>
      </p:sp>
      <p:sp>
        <p:nvSpPr>
          <p:cNvPr id="7" name="Shape 7"/>
          <p:cNvSpPr/>
          <p:nvPr/>
        </p:nvSpPr>
        <p:spPr>
          <a:xfrm>
            <a:off x="548640" y="3383280"/>
            <a:ext cx="11091672" cy="1005840"/>
          </a:xfrm>
          <a:prstGeom prst="rect">
            <a:avLst/>
          </a:prstGeom>
          <a:noFill/>
          <a:ln>
            <a:noFill/>
          </a:ln>
        </p:spPr>
        <p:txBody>
          <a:bodyPr wrap="square" lIns="91440" tIns="45720" rIns="91440" bIns="45720" anchor="t" rtlCol="0">
            <a:noAutofit/>
          </a:bodyPr>
          <a:lstStyle/>
          <a:p>
            <a:pPr algn="l">
              <a:lnSpc>
                <a:spcPct val="100000"/>
              </a:lnSpc>
              <a:spcAft>
                <a:spcPts val="600"/>
              </a:spcAft>
              <a:buNone/>
            </a:pPr>
            <a:r>
              <a:rPr lang="en-GB" sz="2800" b="1" i="0" dirty="0">
                <a:solidFill>
                  <a:srgbClr val="0072B2"/>
                </a:solidFill>
                <a:latin typeface="Arial"/>
                <a:cs typeface="Arial"/>
              </a:rPr>
              <a:t>Whatever the result:  </a:t>
            </a:r>
            <a:r>
              <a:rPr lang="en-GB" sz="2800" b="0" i="0" dirty="0">
                <a:solidFill>
                  <a:srgbClr val="1F2A44"/>
                </a:solidFill>
                <a:latin typeface="Arial"/>
                <a:cs typeface="Arial"/>
              </a:rPr>
              <a:t>the first open, facility-level map of mission medicine in British Africa.</a:t>
            </a:r>
            <a:endParaRPr lang="en-GB" sz="2800"/>
          </a:p>
        </p:txBody>
      </p:sp>
      <p:sp>
        <p:nvSpPr>
          <p:cNvPr id="8" name="Shape 8"/>
          <p:cNvSpPr/>
          <p:nvPr/>
        </p:nvSpPr>
        <p:spPr>
          <a:xfrm>
            <a:off x="548640" y="4663440"/>
            <a:ext cx="11091672" cy="640080"/>
          </a:xfrm>
          <a:prstGeom prst="rect">
            <a:avLst/>
          </a:prstGeom>
          <a:noFill/>
          <a:ln>
            <a:noFill/>
          </a:ln>
        </p:spPr>
        <p:txBody>
          <a:bodyPr wrap="square" lIns="91440" tIns="45720" rIns="91440" bIns="45720" anchor="t" rtlCol="0">
            <a:noAutofit/>
          </a:bodyPr>
          <a:lstStyle/>
          <a:p>
            <a:pPr algn="l">
              <a:lnSpc>
                <a:spcPct val="100000"/>
              </a:lnSpc>
              <a:spcAft>
                <a:spcPts val="600"/>
              </a:spcAft>
              <a:buNone/>
            </a:pPr>
            <a:r>
              <a:rPr lang="en-GB" sz="3600" b="1" i="0" dirty="0">
                <a:solidFill>
                  <a:srgbClr val="1F2A44"/>
                </a:solidFill>
                <a:latin typeface="Arial"/>
                <a:cs typeface="Arial"/>
              </a:rPr>
              <a:t>Thank you</a:t>
            </a:r>
            <a:endParaRPr lang="en-GB" sz="3600"/>
          </a:p>
        </p:txBody>
      </p:sp>
      <p:sp>
        <p:nvSpPr>
          <p:cNvPr id="9" name="Shape 9"/>
          <p:cNvSpPr/>
          <p:nvPr/>
        </p:nvSpPr>
        <p:spPr>
          <a:xfrm>
            <a:off x="548640" y="5349240"/>
            <a:ext cx="11091672" cy="457200"/>
          </a:xfrm>
          <a:prstGeom prst="rect">
            <a:avLst/>
          </a:prstGeom>
          <a:noFill/>
          <a:ln>
            <a:noFill/>
          </a:ln>
        </p:spPr>
        <p:txBody>
          <a:bodyPr wrap="square" lIns="91440" tIns="45720" rIns="91440" bIns="45720" anchor="t" rtlCol="0">
            <a:noAutofit/>
          </a:bodyPr>
          <a:lstStyle/>
          <a:p>
            <a:pPr algn="l">
              <a:lnSpc>
                <a:spcPct val="100000"/>
              </a:lnSpc>
              <a:spcAft>
                <a:spcPts val="600"/>
              </a:spcAft>
              <a:buNone/>
            </a:pPr>
            <a:r>
              <a:rPr lang="en-GB" sz="2000" b="0" i="0" dirty="0">
                <a:solidFill>
                  <a:srgbClr val="5F6B7A"/>
                </a:solidFill>
                <a:latin typeface="Arial"/>
                <a:cs typeface="Arial"/>
              </a:rPr>
              <a:t>Michael Chanda Chiseni  |  Stellenbosch University (LEAP)</a:t>
            </a:r>
            <a:endParaRPr lang="en-GB"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F2A44"/>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2194560"/>
            <a:ext cx="11091672" cy="1097280"/>
          </a:xfrm>
          <a:prstGeom prst="rect">
            <a:avLst/>
          </a:prstGeom>
          <a:noFill/>
          <a:ln>
            <a:noFill/>
          </a:ln>
        </p:spPr>
        <p:txBody>
          <a:bodyPr wrap="square" lIns="45720" tIns="22860" rIns="45720" bIns="22860" anchor="b" rtlCol="0">
            <a:noAutofit/>
          </a:bodyPr>
          <a:lstStyle/>
          <a:p>
            <a:pPr algn="l">
              <a:lnSpc>
                <a:spcPct val="100000"/>
              </a:lnSpc>
              <a:spcAft>
                <a:spcPts val="600"/>
              </a:spcAft>
              <a:buNone/>
            </a:pPr>
            <a:r>
              <a:rPr lang="en-GB" sz="4000" b="1" i="0" dirty="0">
                <a:solidFill>
                  <a:srgbClr val="FFFFFF"/>
                </a:solidFill>
                <a:latin typeface="Arial"/>
                <a:cs typeface="Arial"/>
              </a:rPr>
              <a:t>Backup slides</a:t>
            </a:r>
            <a:endParaRPr lang="en-GB" sz="4000"/>
          </a:p>
        </p:txBody>
      </p:sp>
      <p:sp>
        <p:nvSpPr>
          <p:cNvPr id="3" name="Shape 3"/>
          <p:cNvSpPr/>
          <p:nvPr/>
        </p:nvSpPr>
        <p:spPr>
          <a:xfrm>
            <a:off x="548640" y="3429000"/>
            <a:ext cx="11091672" cy="1097280"/>
          </a:xfrm>
          <a:prstGeom prst="rect">
            <a:avLst/>
          </a:prstGeom>
          <a:noFill/>
          <a:ln>
            <a:noFill/>
          </a:ln>
        </p:spPr>
        <p:txBody>
          <a:bodyPr wrap="square" lIns="45720" tIns="22860" rIns="45720" bIns="22860" anchor="t" rtlCol="0">
            <a:noAutofit/>
          </a:bodyPr>
          <a:lstStyle/>
          <a:p>
            <a:pPr algn="l">
              <a:lnSpc>
                <a:spcPct val="100000"/>
              </a:lnSpc>
              <a:spcAft>
                <a:spcPts val="600"/>
              </a:spcAft>
              <a:buNone/>
            </a:pPr>
            <a:r>
              <a:rPr lang="en-GB" sz="2200" b="0" i="0" dirty="0">
                <a:solidFill>
                  <a:srgbClr val="FFFFFF"/>
                </a:solidFill>
                <a:latin typeface="Arial"/>
                <a:cs typeface="Arial"/>
              </a:rPr>
              <a:t>For questions only. Check with your Funding Manager that backup slides are allowed during Q&amp;A.</a:t>
            </a:r>
            <a:endParaRPr lang="en-GB" sz="2200"/>
          </a:p>
        </p:txBody>
      </p:sp>
      <p:sp>
        <p:nvSpPr>
          <p:cNvPr id="4" name="Shape 4"/>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C9CED6"/>
                </a:solidFill>
                <a:latin typeface="Arial"/>
                <a:cs typeface="Arial"/>
              </a:rPr>
              <a:t>14</a:t>
            </a:r>
            <a:endParaRPr lang="en-GB"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Backup: how I measure trust</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15</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548640" y="1691640"/>
            <a:ext cx="3514344" cy="3291840"/>
          </a:xfrm>
          <a:prstGeom prst="rect">
            <a:avLst/>
          </a:prstGeom>
          <a:solidFill>
            <a:srgbClr val="DCEBF7"/>
          </a:solidFill>
          <a:ln>
            <a:noFill/>
          </a:ln>
        </p:spPr>
        <p:txBody>
          <a:bodyPr wrap="square" lIns="164592" tIns="82296" rIns="164592" bIns="82296" anchor="t" rtlCol="0">
            <a:noAutofit/>
          </a:bodyPr>
          <a:lstStyle/>
          <a:p>
            <a:pPr algn="l">
              <a:lnSpc>
                <a:spcPct val="100000"/>
              </a:lnSpc>
              <a:spcAft>
                <a:spcPts val="800"/>
              </a:spcAft>
              <a:buNone/>
            </a:pPr>
            <a:r>
              <a:rPr lang="en-GB" sz="2400" b="1" i="0" dirty="0">
                <a:solidFill>
                  <a:srgbClr val="1F2A44"/>
                </a:solidFill>
                <a:latin typeface="Arial"/>
                <a:cs typeface="Arial"/>
              </a:rPr>
              <a:t>Revealed</a:t>
            </a:r>
            <a:endParaRPr lang="en-GB" sz="2400"/>
          </a:p>
          <a:p>
            <a:pPr algn="l">
              <a:lnSpc>
                <a:spcPct val="100000"/>
              </a:lnSpc>
              <a:spcAft>
                <a:spcPts val="800"/>
              </a:spcAft>
              <a:buNone/>
            </a:pPr>
            <a:r>
              <a:rPr lang="en-GB" sz="2000" b="0" i="0" dirty="0">
                <a:solidFill>
                  <a:srgbClr val="1F2A44"/>
                </a:solidFill>
                <a:latin typeface="Arial"/>
                <a:cs typeface="Arial"/>
              </a:rPr>
              <a:t>Refusal of free DHS blood tests (Lowes and Montero 2021)</a:t>
            </a:r>
            <a:endParaRPr lang="en-GB" sz="2000"/>
          </a:p>
          <a:p>
            <a:pPr algn="l">
              <a:lnSpc>
                <a:spcPct val="100000"/>
              </a:lnSpc>
              <a:spcAft>
                <a:spcPts val="800"/>
              </a:spcAft>
              <a:buNone/>
            </a:pPr>
            <a:r>
              <a:rPr lang="en-GB" sz="2000" b="0" i="0" dirty="0">
                <a:solidFill>
                  <a:srgbClr val="1F2A44"/>
                </a:solidFill>
                <a:latin typeface="Arial"/>
                <a:cs typeface="Arial"/>
              </a:rPr>
              <a:t>Same sample as the health behaviours</a:t>
            </a:r>
            <a:endParaRPr lang="en-GB" sz="2000"/>
          </a:p>
        </p:txBody>
      </p:sp>
      <p:sp>
        <p:nvSpPr>
          <p:cNvPr id="7" name="Shape 7"/>
          <p:cNvSpPr/>
          <p:nvPr/>
        </p:nvSpPr>
        <p:spPr>
          <a:xfrm>
            <a:off x="4337304" y="1691640"/>
            <a:ext cx="3514344" cy="3291840"/>
          </a:xfrm>
          <a:prstGeom prst="rect">
            <a:avLst/>
          </a:prstGeom>
          <a:solidFill>
            <a:srgbClr val="FCEBD0"/>
          </a:solidFill>
          <a:ln>
            <a:noFill/>
          </a:ln>
        </p:spPr>
        <p:txBody>
          <a:bodyPr wrap="square" lIns="164592" tIns="82296" rIns="164592" bIns="82296" anchor="t" rtlCol="0">
            <a:noAutofit/>
          </a:bodyPr>
          <a:lstStyle/>
          <a:p>
            <a:pPr algn="l">
              <a:lnSpc>
                <a:spcPct val="100000"/>
              </a:lnSpc>
              <a:spcAft>
                <a:spcPts val="800"/>
              </a:spcAft>
              <a:buNone/>
            </a:pPr>
            <a:r>
              <a:rPr lang="en-GB" sz="2400" b="1" i="0" dirty="0">
                <a:solidFill>
                  <a:srgbClr val="1F2A44"/>
                </a:solidFill>
                <a:latin typeface="Arial"/>
                <a:cs typeface="Arial"/>
              </a:rPr>
              <a:t>Reported</a:t>
            </a:r>
            <a:endParaRPr lang="en-GB" sz="2400"/>
          </a:p>
          <a:p>
            <a:pPr algn="l">
              <a:lnSpc>
                <a:spcPct val="100000"/>
              </a:lnSpc>
              <a:spcAft>
                <a:spcPts val="800"/>
              </a:spcAft>
              <a:buNone/>
            </a:pPr>
            <a:r>
              <a:rPr lang="en-GB" sz="2000" b="0" i="0" dirty="0">
                <a:solidFill>
                  <a:srgbClr val="1F2A44"/>
                </a:solidFill>
                <a:latin typeface="Arial"/>
                <a:cs typeface="Arial"/>
              </a:rPr>
              <a:t>Afrobarometer: ease of getting care, disrespect, informal payment</a:t>
            </a:r>
            <a:endParaRPr lang="en-GB" sz="2000"/>
          </a:p>
          <a:p>
            <a:pPr algn="l">
              <a:lnSpc>
                <a:spcPct val="100000"/>
              </a:lnSpc>
              <a:spcAft>
                <a:spcPts val="800"/>
              </a:spcAft>
              <a:buNone/>
            </a:pPr>
            <a:r>
              <a:rPr lang="en-GB" sz="2000" b="0" i="0" dirty="0">
                <a:solidFill>
                  <a:srgbClr val="1F2A44"/>
                </a:solidFill>
                <a:latin typeface="Arial"/>
                <a:cs typeface="Arial"/>
              </a:rPr>
              <a:t>Placebo: trust in police and courts</a:t>
            </a:r>
            <a:endParaRPr lang="en-GB" sz="2000"/>
          </a:p>
        </p:txBody>
      </p:sp>
      <p:sp>
        <p:nvSpPr>
          <p:cNvPr id="8" name="Shape 8"/>
          <p:cNvSpPr/>
          <p:nvPr/>
        </p:nvSpPr>
        <p:spPr>
          <a:xfrm>
            <a:off x="8125968" y="1691640"/>
            <a:ext cx="3514344" cy="3291840"/>
          </a:xfrm>
          <a:prstGeom prst="rect">
            <a:avLst/>
          </a:prstGeom>
          <a:solidFill>
            <a:srgbClr val="D9F0E8"/>
          </a:solidFill>
          <a:ln>
            <a:noFill/>
          </a:ln>
        </p:spPr>
        <p:txBody>
          <a:bodyPr wrap="square" lIns="164592" tIns="82296" rIns="164592" bIns="82296" anchor="t" rtlCol="0">
            <a:noAutofit/>
          </a:bodyPr>
          <a:lstStyle/>
          <a:p>
            <a:pPr algn="l">
              <a:lnSpc>
                <a:spcPct val="100000"/>
              </a:lnSpc>
              <a:spcAft>
                <a:spcPts val="800"/>
              </a:spcAft>
              <a:buNone/>
            </a:pPr>
            <a:r>
              <a:rPr lang="en-GB" sz="2400" b="1" i="0" dirty="0">
                <a:solidFill>
                  <a:srgbClr val="1F2A44"/>
                </a:solidFill>
                <a:latin typeface="Arial"/>
                <a:cs typeface="Arial"/>
              </a:rPr>
              <a:t>Lived</a:t>
            </a:r>
            <a:endParaRPr lang="en-GB" sz="2400"/>
          </a:p>
          <a:p>
            <a:pPr algn="l">
              <a:lnSpc>
                <a:spcPct val="100000"/>
              </a:lnSpc>
              <a:spcAft>
                <a:spcPts val="800"/>
              </a:spcAft>
              <a:buNone/>
            </a:pPr>
            <a:r>
              <a:rPr lang="en-GB" sz="2000" b="0" i="0" dirty="0">
                <a:solidFill>
                  <a:srgbClr val="1F2A44"/>
                </a:solidFill>
                <a:latin typeface="Arial"/>
                <a:cs typeface="Arial"/>
              </a:rPr>
              <a:t>Fieldwork accounts of why people use, bypass or avoid clinics</a:t>
            </a:r>
            <a:endParaRPr lang="en-GB" sz="2000"/>
          </a:p>
        </p:txBody>
      </p:sp>
      <p:sp>
        <p:nvSpPr>
          <p:cNvPr id="9" name="Shape 9"/>
          <p:cNvSpPr/>
          <p:nvPr/>
        </p:nvSpPr>
        <p:spPr>
          <a:xfrm>
            <a:off x="548640" y="5166360"/>
            <a:ext cx="11091672" cy="822960"/>
          </a:xfrm>
          <a:prstGeom prst="rect">
            <a:avLst/>
          </a:prstGeom>
          <a:solidFill>
            <a:srgbClr val="1F2A44"/>
          </a:solidFill>
          <a:ln>
            <a:noFill/>
          </a:ln>
        </p:spPr>
        <p:txBody>
          <a:bodyPr wrap="square" lIns="164592" tIns="82296" rIns="164592" bIns="82296" anchor="ctr" rtlCol="0">
            <a:noAutofit/>
          </a:bodyPr>
          <a:lstStyle/>
          <a:p>
            <a:pPr algn="l">
              <a:lnSpc>
                <a:spcPct val="100000"/>
              </a:lnSpc>
              <a:spcAft>
                <a:spcPts val="600"/>
              </a:spcAft>
              <a:buNone/>
            </a:pPr>
            <a:r>
              <a:rPr lang="en-GB" sz="2000" b="1" i="0" dirty="0">
                <a:solidFill>
                  <a:srgbClr val="FFFFFF"/>
                </a:solidFill>
                <a:latin typeface="Arial"/>
                <a:cs typeface="Arial"/>
              </a:rPr>
              <a:t>Three kinds of trust: in biomedicine, in health workers, in the health system (Gilson 2003)</a:t>
            </a:r>
            <a:endParaRPr lang="en-GB"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Backup: the instrument and its limits</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16</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548640" y="1691640"/>
            <a:ext cx="3514344" cy="3291840"/>
          </a:xfrm>
          <a:prstGeom prst="rect">
            <a:avLst/>
          </a:prstGeom>
          <a:solidFill>
            <a:srgbClr val="DCEBF7"/>
          </a:solidFill>
          <a:ln>
            <a:noFill/>
          </a:ln>
        </p:spPr>
        <p:txBody>
          <a:bodyPr wrap="square" lIns="164592" tIns="82296" rIns="164592" bIns="82296" anchor="t" rtlCol="0">
            <a:noAutofit/>
          </a:bodyPr>
          <a:lstStyle/>
          <a:p>
            <a:pPr algn="l">
              <a:lnSpc>
                <a:spcPct val="100000"/>
              </a:lnSpc>
              <a:spcAft>
                <a:spcPts val="800"/>
              </a:spcAft>
              <a:buNone/>
            </a:pPr>
            <a:r>
              <a:rPr lang="en-GB" sz="2400" b="1" i="0" dirty="0">
                <a:solidFill>
                  <a:srgbClr val="1F2A44"/>
                </a:solidFill>
                <a:latin typeface="Arial"/>
                <a:cs typeface="Arial"/>
              </a:rPr>
              <a:t>Instrument</a:t>
            </a:r>
            <a:endParaRPr lang="en-GB" sz="2400"/>
          </a:p>
          <a:p>
            <a:pPr algn="l">
              <a:lnSpc>
                <a:spcPct val="100000"/>
              </a:lnSpc>
              <a:spcAft>
                <a:spcPts val="800"/>
              </a:spcAft>
              <a:buNone/>
            </a:pPr>
            <a:r>
              <a:rPr lang="en-GB" sz="2000" b="0" i="0" dirty="0">
                <a:solidFill>
                  <a:srgbClr val="1F2A44"/>
                </a:solidFill>
                <a:latin typeface="Arial"/>
                <a:cs typeface="Arial"/>
              </a:rPr>
              <a:t>Medical propensity of the station's society, measured in other territories (leave-one-out)</a:t>
            </a:r>
            <a:endParaRPr lang="en-GB" sz="2000"/>
          </a:p>
        </p:txBody>
      </p:sp>
      <p:sp>
        <p:nvSpPr>
          <p:cNvPr id="7" name="Shape 7"/>
          <p:cNvSpPr/>
          <p:nvPr/>
        </p:nvSpPr>
        <p:spPr>
          <a:xfrm>
            <a:off x="4337304" y="1691640"/>
            <a:ext cx="3514344" cy="3291840"/>
          </a:xfrm>
          <a:prstGeom prst="rect">
            <a:avLst/>
          </a:prstGeom>
          <a:solidFill>
            <a:srgbClr val="FCEBD0"/>
          </a:solidFill>
          <a:ln>
            <a:noFill/>
          </a:ln>
        </p:spPr>
        <p:txBody>
          <a:bodyPr wrap="square" lIns="164592" tIns="82296" rIns="164592" bIns="82296" anchor="t" rtlCol="0">
            <a:noAutofit/>
          </a:bodyPr>
          <a:lstStyle/>
          <a:p>
            <a:pPr algn="l">
              <a:lnSpc>
                <a:spcPct val="100000"/>
              </a:lnSpc>
              <a:spcAft>
                <a:spcPts val="800"/>
              </a:spcAft>
              <a:buNone/>
            </a:pPr>
            <a:r>
              <a:rPr lang="en-GB" sz="2400" b="1" i="0" dirty="0">
                <a:solidFill>
                  <a:srgbClr val="1F2A44"/>
                </a:solidFill>
                <a:latin typeface="Arial"/>
                <a:cs typeface="Arial"/>
              </a:rPr>
              <a:t>Threat</a:t>
            </a:r>
            <a:endParaRPr lang="en-GB" sz="2400"/>
          </a:p>
          <a:p>
            <a:pPr algn="l">
              <a:lnSpc>
                <a:spcPct val="100000"/>
              </a:lnSpc>
              <a:spcAft>
                <a:spcPts val="800"/>
              </a:spcAft>
              <a:buNone/>
            </a:pPr>
            <a:r>
              <a:rPr lang="en-GB" sz="2000" b="0" i="0" dirty="0">
                <a:solidFill>
                  <a:srgbClr val="1F2A44"/>
                </a:solidFill>
                <a:latin typeface="Arial"/>
                <a:cs typeface="Arial"/>
              </a:rPr>
              <a:t>Societies also differ in doctrine and schooling, which can affect health directly</a:t>
            </a:r>
            <a:endParaRPr lang="en-GB" sz="2000"/>
          </a:p>
        </p:txBody>
      </p:sp>
      <p:sp>
        <p:nvSpPr>
          <p:cNvPr id="8" name="Shape 8"/>
          <p:cNvSpPr/>
          <p:nvPr/>
        </p:nvSpPr>
        <p:spPr>
          <a:xfrm>
            <a:off x="8125968" y="1691640"/>
            <a:ext cx="3514344" cy="3291840"/>
          </a:xfrm>
          <a:prstGeom prst="rect">
            <a:avLst/>
          </a:prstGeom>
          <a:solidFill>
            <a:srgbClr val="D9F0E8"/>
          </a:solidFill>
          <a:ln>
            <a:noFill/>
          </a:ln>
        </p:spPr>
        <p:txBody>
          <a:bodyPr wrap="square" lIns="164592" tIns="82296" rIns="164592" bIns="82296" anchor="t" rtlCol="0">
            <a:noAutofit/>
          </a:bodyPr>
          <a:lstStyle/>
          <a:p>
            <a:pPr algn="l">
              <a:lnSpc>
                <a:spcPct val="100000"/>
              </a:lnSpc>
              <a:spcAft>
                <a:spcPts val="800"/>
              </a:spcAft>
              <a:buNone/>
            </a:pPr>
            <a:r>
              <a:rPr lang="en-GB" sz="2400" b="1" i="0" dirty="0">
                <a:solidFill>
                  <a:srgbClr val="1F2A44"/>
                </a:solidFill>
                <a:latin typeface="Arial"/>
                <a:cs typeface="Arial"/>
              </a:rPr>
              <a:t>Response</a:t>
            </a:r>
            <a:endParaRPr lang="en-GB" sz="2400"/>
          </a:p>
          <a:p>
            <a:pPr algn="l">
              <a:lnSpc>
                <a:spcPct val="100000"/>
              </a:lnSpc>
              <a:spcAft>
                <a:spcPts val="800"/>
              </a:spcAft>
              <a:buNone/>
            </a:pPr>
            <a:r>
              <a:rPr lang="en-GB" sz="2000" b="0" i="0" dirty="0">
                <a:solidFill>
                  <a:srgbClr val="1F2A44"/>
                </a:solidFill>
                <a:latin typeface="Arial"/>
                <a:cs typeface="Arial"/>
              </a:rPr>
              <a:t>Control for denomination and schools</a:t>
            </a:r>
            <a:endParaRPr lang="en-GB" sz="2000"/>
          </a:p>
          <a:p>
            <a:pPr algn="l">
              <a:lnSpc>
                <a:spcPct val="100000"/>
              </a:lnSpc>
              <a:spcAft>
                <a:spcPts val="800"/>
              </a:spcAft>
              <a:buNone/>
            </a:pPr>
            <a:r>
              <a:rPr lang="en-GB" sz="2000" b="0" i="0" dirty="0">
                <a:solidFill>
                  <a:srgbClr val="1F2A44"/>
                </a:solidFill>
                <a:latin typeface="Arial"/>
                <a:cs typeface="Arial"/>
              </a:rPr>
              <a:t>Balance tests across societies</a:t>
            </a:r>
            <a:endParaRPr lang="en-GB" sz="2000"/>
          </a:p>
          <a:p>
            <a:pPr algn="l">
              <a:lnSpc>
                <a:spcPct val="100000"/>
              </a:lnSpc>
              <a:spcAft>
                <a:spcPts val="800"/>
              </a:spcAft>
              <a:buNone/>
            </a:pPr>
            <a:r>
              <a:rPr lang="en-GB" sz="2000" b="0" i="0" dirty="0">
                <a:solidFill>
                  <a:srgbClr val="1F2A44"/>
                </a:solidFill>
                <a:latin typeface="Arial"/>
                <a:cs typeface="Arial"/>
              </a:rPr>
              <a:t>Plausibly exogenous bounds (Conley, Hansen and Rossi 2012)</a:t>
            </a:r>
            <a:endParaRPr lang="en-GB" sz="2000"/>
          </a:p>
        </p:txBody>
      </p:sp>
      <p:sp>
        <p:nvSpPr>
          <p:cNvPr id="9" name="Shape 9"/>
          <p:cNvSpPr/>
          <p:nvPr/>
        </p:nvSpPr>
        <p:spPr>
          <a:xfrm>
            <a:off x="548640" y="5212080"/>
            <a:ext cx="11094415" cy="365760"/>
          </a:xfrm>
          <a:prstGeom prst="rect">
            <a:avLst/>
          </a:prstGeom>
          <a:noFill/>
          <a:ln>
            <a:noFill/>
          </a:ln>
        </p:spPr>
        <p:txBody>
          <a:bodyPr wrap="square" lIns="0" tIns="0" rIns="0" bIns="0" anchor="t" rtlCol="0">
            <a:noAutofit/>
          </a:bodyPr>
          <a:lstStyle/>
          <a:p>
            <a:pPr algn="l">
              <a:lnSpc>
                <a:spcPct val="100000"/>
              </a:lnSpc>
              <a:spcAft>
                <a:spcPts val="600"/>
              </a:spcAft>
              <a:buNone/>
            </a:pPr>
            <a:r>
              <a:rPr lang="en-GB" sz="1400" b="0" i="0" dirty="0">
                <a:solidFill>
                  <a:srgbClr val="5F6B7A"/>
                </a:solidFill>
                <a:latin typeface="Arial"/>
                <a:cs typeface="Arial"/>
              </a:rPr>
              <a:t>The instrument is one strand of evidence, not the whole case.</a:t>
            </a:r>
            <a:endParaRPr lang="en-GB"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Backup: mediation, stated honestly</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17</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548640" y="1783080"/>
            <a:ext cx="548640" cy="548640"/>
          </a:xfrm>
          <a:prstGeom prst="ellipse">
            <a:avLst/>
          </a:prstGeom>
          <a:solidFill>
            <a:srgbClr val="1F2A44"/>
          </a:solidFill>
          <a:ln>
            <a:noFill/>
          </a:ln>
        </p:spPr>
        <p:txBody>
          <a:bodyPr wrap="square" lIns="0" tIns="0" rIns="0" bIns="0" anchor="ctr" rtlCol="0">
            <a:noAutofit/>
          </a:bodyPr>
          <a:lstStyle/>
          <a:p>
            <a:pPr algn="ctr">
              <a:lnSpc>
                <a:spcPct val="100000"/>
              </a:lnSpc>
              <a:spcAft>
                <a:spcPts val="600"/>
              </a:spcAft>
              <a:buNone/>
            </a:pPr>
            <a:r>
              <a:rPr lang="en-GB" sz="2200" b="1" i="0" dirty="0">
                <a:solidFill>
                  <a:srgbClr val="FFFFFF"/>
                </a:solidFill>
                <a:latin typeface="Arial"/>
                <a:cs typeface="Arial"/>
              </a:rPr>
              <a:t>1</a:t>
            </a:r>
            <a:endParaRPr lang="en-GB" sz="2200"/>
          </a:p>
        </p:txBody>
      </p:sp>
      <p:sp>
        <p:nvSpPr>
          <p:cNvPr id="7" name="Shape 7"/>
          <p:cNvSpPr/>
          <p:nvPr/>
        </p:nvSpPr>
        <p:spPr>
          <a:xfrm>
            <a:off x="1280160" y="1691640"/>
            <a:ext cx="10360152" cy="731520"/>
          </a:xfrm>
          <a:prstGeom prst="rect">
            <a:avLst/>
          </a:prstGeom>
          <a:solidFill>
            <a:srgbClr val="EEF1F5"/>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Primary result: the total effect of mission medical exposure</a:t>
            </a:r>
            <a:endParaRPr lang="en-GB" sz="2000"/>
          </a:p>
        </p:txBody>
      </p:sp>
      <p:sp>
        <p:nvSpPr>
          <p:cNvPr id="8" name="Shape 8"/>
          <p:cNvSpPr/>
          <p:nvPr/>
        </p:nvSpPr>
        <p:spPr>
          <a:xfrm>
            <a:off x="548640" y="2606040"/>
            <a:ext cx="548640" cy="548640"/>
          </a:xfrm>
          <a:prstGeom prst="ellipse">
            <a:avLst/>
          </a:prstGeom>
          <a:solidFill>
            <a:srgbClr val="1F2A44"/>
          </a:solidFill>
          <a:ln>
            <a:noFill/>
          </a:ln>
        </p:spPr>
        <p:txBody>
          <a:bodyPr wrap="square" lIns="0" tIns="0" rIns="0" bIns="0" anchor="ctr" rtlCol="0">
            <a:noAutofit/>
          </a:bodyPr>
          <a:lstStyle/>
          <a:p>
            <a:pPr algn="ctr">
              <a:lnSpc>
                <a:spcPct val="100000"/>
              </a:lnSpc>
              <a:spcAft>
                <a:spcPts val="600"/>
              </a:spcAft>
              <a:buNone/>
            </a:pPr>
            <a:r>
              <a:rPr lang="en-GB" sz="2200" b="1" i="0" dirty="0">
                <a:solidFill>
                  <a:srgbClr val="FFFFFF"/>
                </a:solidFill>
                <a:latin typeface="Arial"/>
                <a:cs typeface="Arial"/>
              </a:rPr>
              <a:t>2</a:t>
            </a:r>
            <a:endParaRPr lang="en-GB" sz="2200"/>
          </a:p>
        </p:txBody>
      </p:sp>
      <p:sp>
        <p:nvSpPr>
          <p:cNvPr id="9" name="Shape 9"/>
          <p:cNvSpPr/>
          <p:nvPr/>
        </p:nvSpPr>
        <p:spPr>
          <a:xfrm>
            <a:off x="1280160" y="2514600"/>
            <a:ext cx="10360152" cy="731520"/>
          </a:xfrm>
          <a:prstGeom prst="rect">
            <a:avLst/>
          </a:prstGeom>
          <a:solidFill>
            <a:srgbClr val="EEF1F5"/>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Controlled direct effect via sequential g-estimation (Acharya, Blackwell and Sen 2016)</a:t>
            </a:r>
            <a:endParaRPr lang="en-GB" sz="2000"/>
          </a:p>
        </p:txBody>
      </p:sp>
      <p:sp>
        <p:nvSpPr>
          <p:cNvPr id="10" name="Shape 10"/>
          <p:cNvSpPr/>
          <p:nvPr/>
        </p:nvSpPr>
        <p:spPr>
          <a:xfrm>
            <a:off x="548640" y="3429000"/>
            <a:ext cx="548640" cy="548640"/>
          </a:xfrm>
          <a:prstGeom prst="ellipse">
            <a:avLst/>
          </a:prstGeom>
          <a:solidFill>
            <a:srgbClr val="1F2A44"/>
          </a:solidFill>
          <a:ln>
            <a:noFill/>
          </a:ln>
        </p:spPr>
        <p:txBody>
          <a:bodyPr wrap="square" lIns="0" tIns="0" rIns="0" bIns="0" anchor="ctr" rtlCol="0">
            <a:noAutofit/>
          </a:bodyPr>
          <a:lstStyle/>
          <a:p>
            <a:pPr algn="ctr">
              <a:lnSpc>
                <a:spcPct val="100000"/>
              </a:lnSpc>
              <a:spcAft>
                <a:spcPts val="600"/>
              </a:spcAft>
              <a:buNone/>
            </a:pPr>
            <a:r>
              <a:rPr lang="en-GB" sz="2200" b="1" i="0" dirty="0">
                <a:solidFill>
                  <a:srgbClr val="FFFFFF"/>
                </a:solidFill>
                <a:latin typeface="Arial"/>
                <a:cs typeface="Arial"/>
              </a:rPr>
              <a:t>3</a:t>
            </a:r>
            <a:endParaRPr lang="en-GB" sz="2200"/>
          </a:p>
        </p:txBody>
      </p:sp>
      <p:sp>
        <p:nvSpPr>
          <p:cNvPr id="11" name="Shape 11"/>
          <p:cNvSpPr/>
          <p:nvPr/>
        </p:nvSpPr>
        <p:spPr>
          <a:xfrm>
            <a:off x="1280160" y="3337560"/>
            <a:ext cx="10360152" cy="731520"/>
          </a:xfrm>
          <a:prstGeom prst="rect">
            <a:avLst/>
          </a:prstGeom>
          <a:solidFill>
            <a:srgbClr val="EEF1F5"/>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Sensitivity analysis: how much hidden confounding erases the trust share (Imai, Keele and Tingley 2010)</a:t>
            </a:r>
            <a:endParaRPr lang="en-GB" sz="2000"/>
          </a:p>
        </p:txBody>
      </p:sp>
      <p:sp>
        <p:nvSpPr>
          <p:cNvPr id="12" name="Shape 12"/>
          <p:cNvSpPr/>
          <p:nvPr/>
        </p:nvSpPr>
        <p:spPr>
          <a:xfrm>
            <a:off x="548640" y="4251960"/>
            <a:ext cx="548640" cy="548640"/>
          </a:xfrm>
          <a:prstGeom prst="ellipse">
            <a:avLst/>
          </a:prstGeom>
          <a:solidFill>
            <a:srgbClr val="1F2A44"/>
          </a:solidFill>
          <a:ln>
            <a:noFill/>
          </a:ln>
        </p:spPr>
        <p:txBody>
          <a:bodyPr wrap="square" lIns="0" tIns="0" rIns="0" bIns="0" anchor="ctr" rtlCol="0">
            <a:noAutofit/>
          </a:bodyPr>
          <a:lstStyle/>
          <a:p>
            <a:pPr algn="ctr">
              <a:lnSpc>
                <a:spcPct val="100000"/>
              </a:lnSpc>
              <a:spcAft>
                <a:spcPts val="600"/>
              </a:spcAft>
              <a:buNone/>
            </a:pPr>
            <a:r>
              <a:rPr lang="en-GB" sz="2200" b="1" i="0" dirty="0">
                <a:solidFill>
                  <a:srgbClr val="FFFFFF"/>
                </a:solidFill>
                <a:latin typeface="Arial"/>
                <a:cs typeface="Arial"/>
              </a:rPr>
              <a:t>4</a:t>
            </a:r>
            <a:endParaRPr lang="en-GB" sz="2200"/>
          </a:p>
        </p:txBody>
      </p:sp>
      <p:sp>
        <p:nvSpPr>
          <p:cNvPr id="13" name="Shape 13"/>
          <p:cNvSpPr/>
          <p:nvPr/>
        </p:nvSpPr>
        <p:spPr>
          <a:xfrm>
            <a:off x="1280160" y="4160520"/>
            <a:ext cx="10360152" cy="731520"/>
          </a:xfrm>
          <a:prstGeom prst="rect">
            <a:avLst/>
          </a:prstGeom>
          <a:solidFill>
            <a:srgbClr val="EEF1F5"/>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Common geography: DHS links are individual-level; Afrobarometer and burden at district or cluster level</a:t>
            </a:r>
            <a:endParaRPr lang="en-GB" sz="2000"/>
          </a:p>
        </p:txBody>
      </p:sp>
      <p:sp>
        <p:nvSpPr>
          <p:cNvPr id="14" name="Shape 14"/>
          <p:cNvSpPr/>
          <p:nvPr/>
        </p:nvSpPr>
        <p:spPr>
          <a:xfrm>
            <a:off x="548640" y="5074920"/>
            <a:ext cx="548640" cy="548640"/>
          </a:xfrm>
          <a:prstGeom prst="ellipse">
            <a:avLst/>
          </a:prstGeom>
          <a:solidFill>
            <a:srgbClr val="1F2A44"/>
          </a:solidFill>
          <a:ln>
            <a:noFill/>
          </a:ln>
        </p:spPr>
        <p:txBody>
          <a:bodyPr wrap="square" lIns="0" tIns="0" rIns="0" bIns="0" anchor="ctr" rtlCol="0">
            <a:noAutofit/>
          </a:bodyPr>
          <a:lstStyle/>
          <a:p>
            <a:pPr algn="ctr">
              <a:lnSpc>
                <a:spcPct val="100000"/>
              </a:lnSpc>
              <a:spcAft>
                <a:spcPts val="600"/>
              </a:spcAft>
              <a:buNone/>
            </a:pPr>
            <a:r>
              <a:rPr lang="en-GB" sz="2200" b="1" i="0" dirty="0">
                <a:solidFill>
                  <a:srgbClr val="FFFFFF"/>
                </a:solidFill>
                <a:latin typeface="Arial"/>
                <a:cs typeface="Arial"/>
              </a:rPr>
              <a:t>5</a:t>
            </a:r>
            <a:endParaRPr lang="en-GB" sz="2200"/>
          </a:p>
        </p:txBody>
      </p:sp>
      <p:sp>
        <p:nvSpPr>
          <p:cNvPr id="15" name="Shape 15"/>
          <p:cNvSpPr/>
          <p:nvPr/>
        </p:nvSpPr>
        <p:spPr>
          <a:xfrm>
            <a:off x="1280160" y="4983480"/>
            <a:ext cx="10360152" cy="731520"/>
          </a:xfrm>
          <a:prstGeom prst="rect">
            <a:avLst/>
          </a:prstGeom>
          <a:solidFill>
            <a:srgbClr val="EEF1F5"/>
          </a:solidFill>
          <a:ln>
            <a:noFill/>
          </a:ln>
        </p:spPr>
        <p:txBody>
          <a:bodyPr wrap="square" lIns="137160" tIns="68580" rIns="137160" bIns="68580" anchor="ctr" rtlCol="0">
            <a:noAutofit/>
          </a:bodyPr>
          <a:lstStyle/>
          <a:p>
            <a:pPr algn="l">
              <a:lnSpc>
                <a:spcPct val="100000"/>
              </a:lnSpc>
              <a:spcAft>
                <a:spcPts val="600"/>
              </a:spcAft>
              <a:buNone/>
            </a:pPr>
            <a:r>
              <a:rPr lang="en-GB" sz="2000" b="0" i="0" dirty="0">
                <a:solidFill>
                  <a:srgbClr val="1F2A44"/>
                </a:solidFill>
                <a:latin typeface="Arial"/>
                <a:cs typeface="Arial"/>
              </a:rPr>
              <a:t>Triangulate with the Zambian fieldwork</a:t>
            </a:r>
            <a:endParaRPr lang="en-GB"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Backup: risks and mitigations</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18</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548640" y="1691640"/>
            <a:ext cx="3566160" cy="658368"/>
          </a:xfrm>
          <a:prstGeom prst="rect">
            <a:avLst/>
          </a:prstGeom>
          <a:solidFill>
            <a:srgbClr val="1F2A44"/>
          </a:solidFill>
          <a:ln>
            <a:noFill/>
          </a:ln>
        </p:spPr>
        <p:txBody>
          <a:bodyPr wrap="square" lIns="109728" tIns="54864" rIns="109728" bIns="54864" anchor="ctr" rtlCol="0">
            <a:noAutofit/>
          </a:bodyPr>
          <a:lstStyle/>
          <a:p>
            <a:pPr algn="l">
              <a:lnSpc>
                <a:spcPct val="100000"/>
              </a:lnSpc>
              <a:spcAft>
                <a:spcPts val="600"/>
              </a:spcAft>
              <a:buNone/>
            </a:pPr>
            <a:r>
              <a:rPr lang="en-GB" sz="2000" b="1" i="0" dirty="0">
                <a:solidFill>
                  <a:srgbClr val="FFFFFF"/>
                </a:solidFill>
                <a:latin typeface="Arial"/>
                <a:cs typeface="Arial"/>
              </a:rPr>
              <a:t>Risk</a:t>
            </a:r>
            <a:endParaRPr lang="en-GB" sz="2000"/>
          </a:p>
        </p:txBody>
      </p:sp>
      <p:sp>
        <p:nvSpPr>
          <p:cNvPr id="7" name="Shape 7"/>
          <p:cNvSpPr/>
          <p:nvPr/>
        </p:nvSpPr>
        <p:spPr>
          <a:xfrm>
            <a:off x="4169664" y="1691640"/>
            <a:ext cx="7470648" cy="658368"/>
          </a:xfrm>
          <a:prstGeom prst="rect">
            <a:avLst/>
          </a:prstGeom>
          <a:solidFill>
            <a:srgbClr val="1F2A44"/>
          </a:solidFill>
          <a:ln>
            <a:noFill/>
          </a:ln>
        </p:spPr>
        <p:txBody>
          <a:bodyPr wrap="square" lIns="109728" tIns="54864" rIns="109728" bIns="54864" anchor="ctr" rtlCol="0">
            <a:noAutofit/>
          </a:bodyPr>
          <a:lstStyle/>
          <a:p>
            <a:pPr algn="l">
              <a:lnSpc>
                <a:spcPct val="100000"/>
              </a:lnSpc>
              <a:spcAft>
                <a:spcPts val="600"/>
              </a:spcAft>
              <a:buNone/>
            </a:pPr>
            <a:r>
              <a:rPr lang="en-GB" sz="2000" b="1" i="0" dirty="0">
                <a:solidFill>
                  <a:srgbClr val="FFFFFF"/>
                </a:solidFill>
                <a:latin typeface="Arial"/>
                <a:cs typeface="Arial"/>
              </a:rPr>
              <a:t>Mitigation</a:t>
            </a:r>
            <a:endParaRPr lang="en-GB" sz="2000"/>
          </a:p>
        </p:txBody>
      </p:sp>
      <p:sp>
        <p:nvSpPr>
          <p:cNvPr id="8" name="Shape 8"/>
          <p:cNvSpPr/>
          <p:nvPr/>
        </p:nvSpPr>
        <p:spPr>
          <a:xfrm>
            <a:off x="548640" y="2404872"/>
            <a:ext cx="3566160"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1800" b="1" i="0" dirty="0">
                <a:solidFill>
                  <a:srgbClr val="1F2A44"/>
                </a:solidFill>
                <a:latin typeface="Arial"/>
                <a:cs typeface="Arial"/>
              </a:rPr>
              <a:t>Uneven archival coverage</a:t>
            </a:r>
            <a:endParaRPr lang="en-GB" sz="1800"/>
          </a:p>
        </p:txBody>
      </p:sp>
      <p:sp>
        <p:nvSpPr>
          <p:cNvPr id="9" name="Shape 9"/>
          <p:cNvSpPr/>
          <p:nvPr/>
        </p:nvSpPr>
        <p:spPr>
          <a:xfrm>
            <a:off x="4169664" y="2404872"/>
            <a:ext cx="7470648"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1800" b="0" i="0" dirty="0">
                <a:solidFill>
                  <a:srgbClr val="1F2A44"/>
                </a:solidFill>
                <a:latin typeface="Arial"/>
                <a:cs typeface="Arial"/>
              </a:rPr>
              <a:t>Catalogue audit before travel; richest territories first; results hold on the core set</a:t>
            </a:r>
            <a:endParaRPr lang="en-GB" sz="1800"/>
          </a:p>
        </p:txBody>
      </p:sp>
      <p:sp>
        <p:nvSpPr>
          <p:cNvPr id="10" name="Shape 10"/>
          <p:cNvSpPr/>
          <p:nvPr/>
        </p:nvSpPr>
        <p:spPr>
          <a:xfrm>
            <a:off x="548640" y="3118104"/>
            <a:ext cx="3566160"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1800" b="1" i="0" dirty="0">
                <a:solidFill>
                  <a:srgbClr val="1F2A44"/>
                </a:solidFill>
                <a:latin typeface="Arial"/>
                <a:cs typeface="Arial"/>
              </a:rPr>
              <a:t>Selection of mission sites</a:t>
            </a:r>
            <a:endParaRPr lang="en-GB" sz="1800"/>
          </a:p>
        </p:txBody>
      </p:sp>
      <p:sp>
        <p:nvSpPr>
          <p:cNvPr id="11" name="Shape 11"/>
          <p:cNvSpPr/>
          <p:nvPr/>
        </p:nvSpPr>
        <p:spPr>
          <a:xfrm>
            <a:off x="4169664" y="3118104"/>
            <a:ext cx="7470648"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1800" b="0" i="0" dirty="0">
                <a:solidFill>
                  <a:srgbClr val="1F2A44"/>
                </a:solidFill>
                <a:latin typeface="Arial"/>
                <a:cs typeface="Arial"/>
              </a:rPr>
              <a:t>Layered design (slide 7); sensitivity bounds</a:t>
            </a:r>
            <a:endParaRPr lang="en-GB" sz="1800"/>
          </a:p>
        </p:txBody>
      </p:sp>
      <p:sp>
        <p:nvSpPr>
          <p:cNvPr id="12" name="Shape 12"/>
          <p:cNvSpPr/>
          <p:nvPr/>
        </p:nvSpPr>
        <p:spPr>
          <a:xfrm>
            <a:off x="548640" y="3831336"/>
            <a:ext cx="3566160"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1800" b="1" i="0" dirty="0">
                <a:solidFill>
                  <a:srgbClr val="1F2A44"/>
                </a:solidFill>
                <a:latin typeface="Arial"/>
                <a:cs typeface="Arial"/>
              </a:rPr>
              <a:t>Data access (DHS, Afrobarometer)</a:t>
            </a:r>
            <a:endParaRPr lang="en-GB" sz="1800"/>
          </a:p>
        </p:txBody>
      </p:sp>
      <p:sp>
        <p:nvSpPr>
          <p:cNvPr id="13" name="Shape 13"/>
          <p:cNvSpPr/>
          <p:nvPr/>
        </p:nvSpPr>
        <p:spPr>
          <a:xfrm>
            <a:off x="4169664" y="3831336"/>
            <a:ext cx="7470648"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1800" b="0" i="0" dirty="0">
                <a:solidFill>
                  <a:srgbClr val="1F2A44"/>
                </a:solidFill>
                <a:latin typeface="Arial"/>
                <a:cs typeface="Arial"/>
              </a:rPr>
              <a:t>Download DHS rounds and GPS early; IPUMS copies; district-level fallback</a:t>
            </a:r>
            <a:endParaRPr lang="en-GB" sz="1800"/>
          </a:p>
        </p:txBody>
      </p:sp>
      <p:sp>
        <p:nvSpPr>
          <p:cNvPr id="14" name="Shape 14"/>
          <p:cNvSpPr/>
          <p:nvPr/>
        </p:nvSpPr>
        <p:spPr>
          <a:xfrm>
            <a:off x="548640" y="4544568"/>
            <a:ext cx="3566160"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1800" b="1" i="0" dirty="0">
                <a:solidFill>
                  <a:srgbClr val="1F2A44"/>
                </a:solidFill>
                <a:latin typeface="Arial"/>
                <a:cs typeface="Arial"/>
              </a:rPr>
              <a:t>Approvals in Zambia</a:t>
            </a:r>
            <a:endParaRPr lang="en-GB" sz="1800"/>
          </a:p>
        </p:txBody>
      </p:sp>
      <p:sp>
        <p:nvSpPr>
          <p:cNvPr id="15" name="Shape 15"/>
          <p:cNvSpPr/>
          <p:nvPr/>
        </p:nvSpPr>
        <p:spPr>
          <a:xfrm>
            <a:off x="4169664" y="4544568"/>
            <a:ext cx="7470648"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1800" b="0" i="0" dirty="0">
                <a:solidFill>
                  <a:srgbClr val="1F2A44"/>
                </a:solidFill>
                <a:latin typeface="Arial"/>
                <a:cs typeface="Arial"/>
              </a:rPr>
              <a:t>Applications from month 1; fieldwork starts month 20</a:t>
            </a:r>
            <a:endParaRPr lang="en-GB" sz="1800"/>
          </a:p>
        </p:txBody>
      </p:sp>
      <p:sp>
        <p:nvSpPr>
          <p:cNvPr id="16" name="Shape 16"/>
          <p:cNvSpPr/>
          <p:nvPr/>
        </p:nvSpPr>
        <p:spPr>
          <a:xfrm>
            <a:off x="548640" y="5257800"/>
            <a:ext cx="3566160"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1800" b="1" i="0" dirty="0">
                <a:solidFill>
                  <a:srgbClr val="1F2A44"/>
                </a:solidFill>
                <a:latin typeface="Arial"/>
                <a:cs typeface="Arial"/>
              </a:rPr>
              <a:t>Travel or photography limits</a:t>
            </a:r>
            <a:endParaRPr lang="en-GB" sz="1800"/>
          </a:p>
        </p:txBody>
      </p:sp>
      <p:sp>
        <p:nvSpPr>
          <p:cNvPr id="17" name="Shape 17"/>
          <p:cNvSpPr/>
          <p:nvPr/>
        </p:nvSpPr>
        <p:spPr>
          <a:xfrm>
            <a:off x="4169664" y="5257800"/>
            <a:ext cx="7470648"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1800" b="0" i="0" dirty="0">
                <a:solidFill>
                  <a:srgbClr val="1F2A44"/>
                </a:solidFill>
                <a:latin typeface="Arial"/>
                <a:cs typeface="Arial"/>
              </a:rPr>
              <a:t>British Online Archives; archive copying services</a:t>
            </a:r>
            <a:endParaRPr lang="en-GB"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Backup: outcomes and exposure</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19</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548640" y="1691640"/>
            <a:ext cx="3514344" cy="4206240"/>
          </a:xfrm>
          <a:prstGeom prst="rect">
            <a:avLst/>
          </a:prstGeom>
          <a:solidFill>
            <a:srgbClr val="DCEBF7"/>
          </a:solidFill>
          <a:ln>
            <a:noFill/>
          </a:ln>
        </p:spPr>
        <p:txBody>
          <a:bodyPr wrap="square" lIns="164592" tIns="82296" rIns="164592" bIns="82296" anchor="t" rtlCol="0">
            <a:noAutofit/>
          </a:bodyPr>
          <a:lstStyle/>
          <a:p>
            <a:pPr algn="l">
              <a:lnSpc>
                <a:spcPct val="100000"/>
              </a:lnSpc>
              <a:spcAft>
                <a:spcPts val="800"/>
              </a:spcAft>
              <a:buNone/>
            </a:pPr>
            <a:r>
              <a:rPr lang="en-GB" sz="2400" b="1" i="0" dirty="0">
                <a:solidFill>
                  <a:srgbClr val="1F2A44"/>
                </a:solidFill>
                <a:latin typeface="Arial"/>
                <a:cs typeface="Arial"/>
              </a:rPr>
              <a:t>Primary outcomes (DHS)</a:t>
            </a:r>
            <a:endParaRPr lang="en-GB" sz="2400"/>
          </a:p>
          <a:p>
            <a:pPr algn="l">
              <a:lnSpc>
                <a:spcPct val="100000"/>
              </a:lnSpc>
              <a:spcAft>
                <a:spcPts val="800"/>
              </a:spcAft>
              <a:buNone/>
            </a:pPr>
            <a:r>
              <a:rPr lang="en-GB" sz="2000" b="0" i="0" dirty="0">
                <a:solidFill>
                  <a:srgbClr val="1F2A44"/>
                </a:solidFill>
                <a:latin typeface="Arial"/>
                <a:cs typeface="Arial"/>
              </a:rPr>
              <a:t>Child mortality, vaccination, antenatal care, facility births, care-seeking</a:t>
            </a:r>
            <a:endParaRPr lang="en-GB" sz="2000"/>
          </a:p>
          <a:p>
            <a:pPr algn="l">
              <a:lnSpc>
                <a:spcPct val="100000"/>
              </a:lnSpc>
              <a:spcAft>
                <a:spcPts val="800"/>
              </a:spcAft>
              <a:buNone/>
            </a:pPr>
            <a:r>
              <a:rPr lang="en-GB" sz="2000" b="0" i="0" dirty="0">
                <a:solidFill>
                  <a:srgbClr val="1F2A44"/>
                </a:solidFill>
                <a:latin typeface="Arial"/>
                <a:cs typeface="Arial"/>
              </a:rPr>
              <a:t>Malaria test and anaemia results where collected</a:t>
            </a:r>
            <a:endParaRPr lang="en-GB" sz="2000"/>
          </a:p>
        </p:txBody>
      </p:sp>
      <p:sp>
        <p:nvSpPr>
          <p:cNvPr id="7" name="Shape 7"/>
          <p:cNvSpPr/>
          <p:nvPr/>
        </p:nvSpPr>
        <p:spPr>
          <a:xfrm>
            <a:off x="4337304" y="1691640"/>
            <a:ext cx="3514344" cy="4206240"/>
          </a:xfrm>
          <a:prstGeom prst="rect">
            <a:avLst/>
          </a:prstGeom>
          <a:solidFill>
            <a:srgbClr val="FCEBD0"/>
          </a:solidFill>
          <a:ln>
            <a:noFill/>
          </a:ln>
        </p:spPr>
        <p:txBody>
          <a:bodyPr wrap="square" lIns="164592" tIns="82296" rIns="164592" bIns="82296" anchor="t" rtlCol="0">
            <a:noAutofit/>
          </a:bodyPr>
          <a:lstStyle/>
          <a:p>
            <a:pPr algn="l">
              <a:lnSpc>
                <a:spcPct val="100000"/>
              </a:lnSpc>
              <a:spcAft>
                <a:spcPts val="800"/>
              </a:spcAft>
              <a:buNone/>
            </a:pPr>
            <a:r>
              <a:rPr lang="en-GB" sz="2400" b="1" i="0" dirty="0">
                <a:solidFill>
                  <a:srgbClr val="1F2A44"/>
                </a:solidFill>
                <a:latin typeface="Arial"/>
                <a:cs typeface="Arial"/>
              </a:rPr>
              <a:t>Secondary (IHME)</a:t>
            </a:r>
            <a:endParaRPr lang="en-GB" sz="2400"/>
          </a:p>
          <a:p>
            <a:pPr algn="l">
              <a:lnSpc>
                <a:spcPct val="100000"/>
              </a:lnSpc>
              <a:spcAft>
                <a:spcPts val="800"/>
              </a:spcAft>
              <a:buNone/>
            </a:pPr>
            <a:r>
              <a:rPr lang="en-GB" sz="2000" b="0" i="0" dirty="0">
                <a:solidFill>
                  <a:srgbClr val="1F2A44"/>
                </a:solidFill>
                <a:latin typeface="Arial"/>
                <a:cs typeface="Arial"/>
              </a:rPr>
              <a:t>Local Burden of Disease maps, with uncertainty carried through</a:t>
            </a:r>
            <a:endParaRPr lang="en-GB" sz="2000"/>
          </a:p>
          <a:p>
            <a:pPr algn="l">
              <a:lnSpc>
                <a:spcPct val="100000"/>
              </a:lnSpc>
              <a:spcAft>
                <a:spcPts val="800"/>
              </a:spcAft>
              <a:buNone/>
            </a:pPr>
            <a:r>
              <a:rPr lang="en-GB" sz="2000" b="0" i="0" dirty="0">
                <a:solidFill>
                  <a:srgbClr val="1F2A44"/>
                </a:solidFill>
                <a:latin typeface="Arial"/>
                <a:cs typeface="Arial"/>
              </a:rPr>
              <a:t>Malaria: care-dependent outcomes, not prevalence</a:t>
            </a:r>
            <a:endParaRPr lang="en-GB" sz="2000"/>
          </a:p>
        </p:txBody>
      </p:sp>
      <p:sp>
        <p:nvSpPr>
          <p:cNvPr id="8" name="Shape 8"/>
          <p:cNvSpPr/>
          <p:nvPr/>
        </p:nvSpPr>
        <p:spPr>
          <a:xfrm>
            <a:off x="8125968" y="1691640"/>
            <a:ext cx="3514344" cy="4206240"/>
          </a:xfrm>
          <a:prstGeom prst="rect">
            <a:avLst/>
          </a:prstGeom>
          <a:solidFill>
            <a:srgbClr val="D9F0E8"/>
          </a:solidFill>
          <a:ln>
            <a:noFill/>
          </a:ln>
        </p:spPr>
        <p:txBody>
          <a:bodyPr wrap="square" lIns="164592" tIns="82296" rIns="164592" bIns="82296" anchor="t" rtlCol="0">
            <a:noAutofit/>
          </a:bodyPr>
          <a:lstStyle/>
          <a:p>
            <a:pPr algn="l">
              <a:lnSpc>
                <a:spcPct val="100000"/>
              </a:lnSpc>
              <a:spcAft>
                <a:spcPts val="800"/>
              </a:spcAft>
              <a:buNone/>
            </a:pPr>
            <a:r>
              <a:rPr lang="en-GB" sz="2400" b="1" i="0" dirty="0">
                <a:solidFill>
                  <a:srgbClr val="1F2A44"/>
                </a:solidFill>
                <a:latin typeface="Arial"/>
                <a:cs typeface="Arial"/>
              </a:rPr>
              <a:t>Exposure</a:t>
            </a:r>
            <a:endParaRPr lang="en-GB" sz="2400"/>
          </a:p>
          <a:p>
            <a:pPr algn="l">
              <a:lnSpc>
                <a:spcPct val="100000"/>
              </a:lnSpc>
              <a:spcAft>
                <a:spcPts val="800"/>
              </a:spcAft>
              <a:buNone/>
            </a:pPr>
            <a:r>
              <a:rPr lang="en-GB" sz="2000" b="0" i="0" dirty="0">
                <a:solidFill>
                  <a:srgbClr val="1F2A44"/>
                </a:solidFill>
                <a:latin typeface="Arial"/>
                <a:cs typeface="Arial"/>
              </a:rPr>
              <a:t>Distance; 10 and 25 km bands; years open; patients per head</a:t>
            </a:r>
            <a:endParaRPr lang="en-GB" sz="2000"/>
          </a:p>
          <a:p>
            <a:pPr algn="l">
              <a:lnSpc>
                <a:spcPct val="100000"/>
              </a:lnSpc>
              <a:spcAft>
                <a:spcPts val="800"/>
              </a:spcAft>
              <a:buNone/>
            </a:pPr>
            <a:r>
              <a:rPr lang="en-GB" sz="2000" b="0" i="0" dirty="0">
                <a:solidFill>
                  <a:srgbClr val="1F2A44"/>
                </a:solidFill>
                <a:latin typeface="Arial"/>
                <a:cs typeface="Arial"/>
              </a:rPr>
              <a:t>Bands wider than DHS displacement (2 km urban, 5 km rural)</a:t>
            </a:r>
            <a:endParaRPr lang="en-GB"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ph type="title"/>
          </p:nvPr>
        </p:nvSpPr>
        <p:spPr>
          <a:xfrm>
            <a:off x="548640" y="320040"/>
            <a:ext cx="11094415" cy="1097280"/>
          </a:xfrm>
          <a:prstGeom prst="rect">
            <a:avLst/>
          </a:prstGeom>
          <a:noFill/>
          <a:ln>
            <a:noFill/>
          </a:ln>
        </p:spPr>
        <p:txBody>
          <a:bodyPr wrap="square" lIns="45720" tIns="22860" rIns="45720" bIns="22860" anchor="ctr" rtlCol="0">
            <a:noAutofit/>
          </a:bodyPr>
          <a:lstStyle/>
          <a:p>
            <a:pPr algn="l">
              <a:lnSpc>
                <a:spcPct val="100000"/>
              </a:lnSpc>
              <a:spcAft>
                <a:spcPts val="600"/>
              </a:spcAft>
              <a:buNone/>
            </a:pPr>
            <a:r>
              <a:rPr lang="en-GB" sz="3200" b="1" i="0" dirty="0">
                <a:solidFill>
                  <a:srgbClr val="1F2A44"/>
                </a:solidFill>
                <a:latin typeface="Arial"/>
                <a:cs typeface="Arial"/>
              </a:rPr>
              <a:t>Backup: budget at a glance</a:t>
            </a:r>
            <a:endParaRPr lang="en-GB" sz="3200"/>
          </a:p>
        </p:txBody>
      </p:sp>
      <p:sp>
        <p:nvSpPr>
          <p:cNvPr id="3" name="Shape 3"/>
          <p:cNvSpPr/>
          <p:nvPr/>
        </p:nvSpPr>
        <p:spPr>
          <a:xfrm>
            <a:off x="10911535" y="6382512"/>
            <a:ext cx="731520" cy="329184"/>
          </a:xfrm>
          <a:prstGeom prst="rect">
            <a:avLst/>
          </a:prstGeom>
          <a:noFill/>
          <a:ln>
            <a:noFill/>
          </a:ln>
        </p:spPr>
        <p:txBody>
          <a:bodyPr wrap="square" lIns="0" tIns="0" rIns="0" bIns="0" anchor="t" rtlCol="0">
            <a:noAutofit/>
          </a:bodyPr>
          <a:lstStyle/>
          <a:p>
            <a:pPr algn="r">
              <a:lnSpc>
                <a:spcPct val="100000"/>
              </a:lnSpc>
              <a:spcAft>
                <a:spcPts val="600"/>
              </a:spcAft>
              <a:buNone/>
            </a:pPr>
            <a:r>
              <a:rPr lang="en-GB" sz="1400" b="0" i="0" dirty="0">
                <a:solidFill>
                  <a:srgbClr val="5F6B7A"/>
                </a:solidFill>
                <a:latin typeface="Arial"/>
                <a:cs typeface="Arial"/>
              </a:rPr>
              <a:t>20</a:t>
            </a:r>
            <a:endParaRPr lang="en-GB" sz="1400"/>
          </a:p>
        </p:txBody>
      </p:sp>
      <p:sp>
        <p:nvSpPr>
          <p:cNvPr id="4" name="Shape 4"/>
          <p:cNvSpPr/>
          <p:nvPr/>
        </p:nvSpPr>
        <p:spPr>
          <a:xfrm>
            <a:off x="548640" y="6382512"/>
            <a:ext cx="8229600" cy="329184"/>
          </a:xfrm>
          <a:prstGeom prst="rect">
            <a:avLst/>
          </a:prstGeom>
          <a:noFill/>
          <a:ln>
            <a:noFill/>
          </a:ln>
        </p:spPr>
        <p:txBody>
          <a:bodyPr wrap="square" lIns="0" tIns="0" rIns="0" bIns="0" anchor="t" rtlCol="0">
            <a:noAutofit/>
          </a:bodyPr>
          <a:lstStyle/>
          <a:p>
            <a:pPr algn="l">
              <a:lnSpc>
                <a:spcPct val="100000"/>
              </a:lnSpc>
              <a:spcAft>
                <a:spcPts val="600"/>
              </a:spcAft>
              <a:buNone/>
            </a:pPr>
            <a:r>
              <a:rPr lang="en-GB" sz="1200" b="0" i="0" dirty="0">
                <a:solidFill>
                  <a:srgbClr val="5F6B7A"/>
                </a:solidFill>
                <a:latin typeface="Arial"/>
                <a:cs typeface="Arial"/>
              </a:rPr>
              <a:t>Chiseni | Wellcome Early-Career Award interview | 355277/Z/26/Z</a:t>
            </a:r>
            <a:endParaRPr lang="en-GB" sz="1200"/>
          </a:p>
        </p:txBody>
      </p:sp>
      <p:sp>
        <p:nvSpPr>
          <p:cNvPr id="5" name="Shape 5"/>
          <p:cNvSpPr/>
          <p:nvPr/>
        </p:nvSpPr>
        <p:spPr>
          <a:xfrm>
            <a:off x="548640" y="1463040"/>
            <a:ext cx="1188720" cy="64008"/>
          </a:xfrm>
          <a:prstGeom prst="rect">
            <a:avLst/>
          </a:prstGeom>
          <a:solidFill>
            <a:srgbClr val="0072B2"/>
          </a:solidFill>
          <a:ln>
            <a:noFill/>
          </a:ln>
        </p:spPr>
        <p:txBody>
          <a:bodyPr wrap="square" lIns="91440" tIns="45720" rIns="91440" bIns="45720" anchor="t" rtlCol="0">
            <a:noAutofit/>
          </a:bodyPr>
          <a:lstStyle/>
          <a:p>
            <a:endParaRPr lang="en-GB" sz="1200"/>
          </a:p>
        </p:txBody>
      </p:sp>
      <p:sp>
        <p:nvSpPr>
          <p:cNvPr id="6" name="Shape 6"/>
          <p:cNvSpPr/>
          <p:nvPr/>
        </p:nvSpPr>
        <p:spPr>
          <a:xfrm>
            <a:off x="548640" y="1691640"/>
            <a:ext cx="7315200" cy="658368"/>
          </a:xfrm>
          <a:prstGeom prst="rect">
            <a:avLst/>
          </a:prstGeom>
          <a:solidFill>
            <a:srgbClr val="1F2A44"/>
          </a:solidFill>
          <a:ln>
            <a:noFill/>
          </a:ln>
        </p:spPr>
        <p:txBody>
          <a:bodyPr wrap="square" lIns="109728" tIns="54864" rIns="109728" bIns="54864" anchor="ctr" rtlCol="0">
            <a:noAutofit/>
          </a:bodyPr>
          <a:lstStyle/>
          <a:p>
            <a:pPr algn="l">
              <a:lnSpc>
                <a:spcPct val="100000"/>
              </a:lnSpc>
              <a:spcAft>
                <a:spcPts val="600"/>
              </a:spcAft>
              <a:buNone/>
            </a:pPr>
            <a:r>
              <a:rPr lang="en-GB" sz="2000" b="1" i="0" dirty="0">
                <a:solidFill>
                  <a:srgbClr val="FFFFFF"/>
                </a:solidFill>
                <a:latin typeface="Arial"/>
                <a:cs typeface="Arial"/>
              </a:rPr>
              <a:t>Budget line</a:t>
            </a:r>
            <a:endParaRPr lang="en-GB" sz="2000"/>
          </a:p>
        </p:txBody>
      </p:sp>
      <p:sp>
        <p:nvSpPr>
          <p:cNvPr id="7" name="Shape 7"/>
          <p:cNvSpPr/>
          <p:nvPr/>
        </p:nvSpPr>
        <p:spPr>
          <a:xfrm>
            <a:off x="7918704" y="1691640"/>
            <a:ext cx="3721608" cy="658368"/>
          </a:xfrm>
          <a:prstGeom prst="rect">
            <a:avLst/>
          </a:prstGeom>
          <a:solidFill>
            <a:srgbClr val="1F2A44"/>
          </a:solidFill>
          <a:ln>
            <a:noFill/>
          </a:ln>
        </p:spPr>
        <p:txBody>
          <a:bodyPr wrap="square" lIns="109728" tIns="54864" rIns="109728" bIns="54864" anchor="ctr" rtlCol="0">
            <a:noAutofit/>
          </a:bodyPr>
          <a:lstStyle/>
          <a:p>
            <a:pPr algn="l">
              <a:lnSpc>
                <a:spcPct val="100000"/>
              </a:lnSpc>
              <a:spcAft>
                <a:spcPts val="600"/>
              </a:spcAft>
              <a:buNone/>
            </a:pPr>
            <a:r>
              <a:rPr lang="en-GB" sz="2000" b="1" i="0" dirty="0">
                <a:solidFill>
                  <a:srgbClr val="FFFFFF"/>
                </a:solidFill>
                <a:latin typeface="Arial"/>
                <a:cs typeface="Arial"/>
              </a:rPr>
              <a:t>ZAR</a:t>
            </a:r>
            <a:endParaRPr lang="en-GB" sz="2000"/>
          </a:p>
        </p:txBody>
      </p:sp>
      <p:sp>
        <p:nvSpPr>
          <p:cNvPr id="8" name="Shape 8"/>
          <p:cNvSpPr/>
          <p:nvPr/>
        </p:nvSpPr>
        <p:spPr>
          <a:xfrm>
            <a:off x="548640" y="2404872"/>
            <a:ext cx="7315200"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2000" b="1" i="0" dirty="0">
                <a:solidFill>
                  <a:srgbClr val="1F2A44"/>
                </a:solidFill>
                <a:latin typeface="Arial"/>
                <a:cs typeface="Arial"/>
              </a:rPr>
              <a:t>PI salary, 48 months at 100%</a:t>
            </a:r>
            <a:endParaRPr lang="en-GB" sz="2000"/>
          </a:p>
        </p:txBody>
      </p:sp>
      <p:sp>
        <p:nvSpPr>
          <p:cNvPr id="9" name="Shape 9"/>
          <p:cNvSpPr/>
          <p:nvPr/>
        </p:nvSpPr>
        <p:spPr>
          <a:xfrm>
            <a:off x="7918704" y="2404872"/>
            <a:ext cx="3721608"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2000" b="0" i="0" dirty="0">
                <a:solidFill>
                  <a:srgbClr val="1F2A44"/>
                </a:solidFill>
                <a:latin typeface="Arial"/>
                <a:cs typeface="Arial"/>
              </a:rPr>
              <a:t>4,799,860</a:t>
            </a:r>
            <a:endParaRPr lang="en-GB" sz="2000"/>
          </a:p>
        </p:txBody>
      </p:sp>
      <p:sp>
        <p:nvSpPr>
          <p:cNvPr id="10" name="Shape 10"/>
          <p:cNvSpPr/>
          <p:nvPr/>
        </p:nvSpPr>
        <p:spPr>
          <a:xfrm>
            <a:off x="548640" y="3118104"/>
            <a:ext cx="7315200"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2000" b="1" i="0" dirty="0">
                <a:solidFill>
                  <a:srgbClr val="1F2A44"/>
                </a:solidFill>
                <a:latin typeface="Arial"/>
                <a:cs typeface="Arial"/>
              </a:rPr>
              <a:t>Research expenses (RA, fieldwork, travel, open access, equipment, other)</a:t>
            </a:r>
            <a:endParaRPr lang="en-GB" sz="2000"/>
          </a:p>
        </p:txBody>
      </p:sp>
      <p:sp>
        <p:nvSpPr>
          <p:cNvPr id="11" name="Shape 11"/>
          <p:cNvSpPr/>
          <p:nvPr/>
        </p:nvSpPr>
        <p:spPr>
          <a:xfrm>
            <a:off x="7918704" y="3118104"/>
            <a:ext cx="3721608"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2000" b="0" i="0" dirty="0">
                <a:solidFill>
                  <a:srgbClr val="1F2A44"/>
                </a:solidFill>
                <a:latin typeface="Arial"/>
                <a:cs typeface="Arial"/>
              </a:rPr>
              <a:t>1,270,054</a:t>
            </a:r>
            <a:endParaRPr lang="en-GB" sz="2000"/>
          </a:p>
        </p:txBody>
      </p:sp>
      <p:sp>
        <p:nvSpPr>
          <p:cNvPr id="12" name="Shape 12"/>
          <p:cNvSpPr/>
          <p:nvPr/>
        </p:nvSpPr>
        <p:spPr>
          <a:xfrm>
            <a:off x="548640" y="3831336"/>
            <a:ext cx="7315200"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2000" b="1" i="0" dirty="0">
                <a:solidFill>
                  <a:srgbClr val="1F2A44"/>
                </a:solidFill>
                <a:latin typeface="Arial"/>
                <a:cs typeface="Arial"/>
              </a:rPr>
              <a:t>of which RA (24 months) / fieldwork / travel</a:t>
            </a:r>
            <a:endParaRPr lang="en-GB" sz="2000"/>
          </a:p>
        </p:txBody>
      </p:sp>
      <p:sp>
        <p:nvSpPr>
          <p:cNvPr id="13" name="Shape 13"/>
          <p:cNvSpPr/>
          <p:nvPr/>
        </p:nvSpPr>
        <p:spPr>
          <a:xfrm>
            <a:off x="7918704" y="3831336"/>
            <a:ext cx="3721608"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2000" b="0" i="0" dirty="0">
                <a:solidFill>
                  <a:srgbClr val="1F2A44"/>
                </a:solidFill>
                <a:latin typeface="Arial"/>
                <a:cs typeface="Arial"/>
              </a:rPr>
              <a:t>325,939 / 500,190 / 182,500</a:t>
            </a:r>
            <a:endParaRPr lang="en-GB" sz="2000"/>
          </a:p>
        </p:txBody>
      </p:sp>
      <p:sp>
        <p:nvSpPr>
          <p:cNvPr id="14" name="Shape 14"/>
          <p:cNvSpPr/>
          <p:nvPr/>
        </p:nvSpPr>
        <p:spPr>
          <a:xfrm>
            <a:off x="548640" y="4544568"/>
            <a:ext cx="7315200"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2000" b="1" i="0" dirty="0">
                <a:solidFill>
                  <a:srgbClr val="1F2A44"/>
                </a:solidFill>
                <a:latin typeface="Arial"/>
                <a:cs typeface="Arial"/>
              </a:rPr>
              <a:t>Overheads (20% of direct costs)</a:t>
            </a:r>
            <a:endParaRPr lang="en-GB" sz="2000"/>
          </a:p>
        </p:txBody>
      </p:sp>
      <p:sp>
        <p:nvSpPr>
          <p:cNvPr id="15" name="Shape 15"/>
          <p:cNvSpPr/>
          <p:nvPr/>
        </p:nvSpPr>
        <p:spPr>
          <a:xfrm>
            <a:off x="7918704" y="4544568"/>
            <a:ext cx="3721608"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2000" b="0" i="0" dirty="0">
                <a:solidFill>
                  <a:srgbClr val="1F2A44"/>
                </a:solidFill>
                <a:latin typeface="Arial"/>
                <a:cs typeface="Arial"/>
              </a:rPr>
              <a:t>1,213,983</a:t>
            </a:r>
            <a:endParaRPr lang="en-GB" sz="2000"/>
          </a:p>
        </p:txBody>
      </p:sp>
      <p:sp>
        <p:nvSpPr>
          <p:cNvPr id="16" name="Shape 16"/>
          <p:cNvSpPr/>
          <p:nvPr/>
        </p:nvSpPr>
        <p:spPr>
          <a:xfrm>
            <a:off x="548640" y="5257800"/>
            <a:ext cx="7315200"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2000" b="1" i="0" dirty="0">
                <a:solidFill>
                  <a:srgbClr val="1F2A44"/>
                </a:solidFill>
                <a:latin typeface="Arial"/>
                <a:cs typeface="Arial"/>
              </a:rPr>
              <a:t>Total requested</a:t>
            </a:r>
            <a:endParaRPr lang="en-GB" sz="2000"/>
          </a:p>
        </p:txBody>
      </p:sp>
      <p:sp>
        <p:nvSpPr>
          <p:cNvPr id="17" name="Shape 17"/>
          <p:cNvSpPr/>
          <p:nvPr/>
        </p:nvSpPr>
        <p:spPr>
          <a:xfrm>
            <a:off x="7918704" y="5257800"/>
            <a:ext cx="3721608" cy="658368"/>
          </a:xfrm>
          <a:prstGeom prst="rect">
            <a:avLst/>
          </a:prstGeom>
          <a:solidFill>
            <a:srgbClr val="EEF1F5"/>
          </a:solidFill>
          <a:ln>
            <a:noFill/>
          </a:ln>
        </p:spPr>
        <p:txBody>
          <a:bodyPr wrap="square" lIns="109728" tIns="54864" rIns="109728" bIns="54864" anchor="ctr" rtlCol="0">
            <a:noAutofit/>
          </a:bodyPr>
          <a:lstStyle/>
          <a:p>
            <a:pPr algn="l">
              <a:lnSpc>
                <a:spcPct val="100000"/>
              </a:lnSpc>
              <a:spcAft>
                <a:spcPts val="600"/>
              </a:spcAft>
              <a:buNone/>
            </a:pPr>
            <a:r>
              <a:rPr lang="en-GB" sz="2000" b="0" i="0" dirty="0">
                <a:solidFill>
                  <a:srgbClr val="1F2A44"/>
                </a:solidFill>
                <a:latin typeface="Arial"/>
                <a:cs typeface="Arial"/>
              </a:rPr>
              <a:t>7,283,897</a:t>
            </a:r>
            <a:endParaRPr lang="en-GB" sz="2000"/>
          </a:p>
        </p:txBody>
      </p:sp>
    </p:spTree>
  </p:cSld>
  <p:clrMapOvr>
    <a:masterClrMapping/>
  </p:clrMapOvr>
</p:sld>
</file>

<file path=ppt/theme/theme1.xml><?xml version="1.0" encoding="utf-8"?>
<a:theme xmlns:a="http://schemas.openxmlformats.org/drawingml/2006/main" name="Deck">
  <a:themeElements>
    <a:clrScheme name="Okabe-Ito">
      <a:dk1>
        <a:srgbClr val="1F2A44"/>
      </a:dk1>
      <a:lt1>
        <a:srgbClr val="FFFFFF"/>
      </a:lt1>
      <a:dk2>
        <a:srgbClr val="1F2A44"/>
      </a:dk2>
      <a:lt2>
        <a:srgbClr val="EEF1F5"/>
      </a:lt2>
      <a:accent1>
        <a:srgbClr val="0072B2"/>
      </a:accent1>
      <a:accent2>
        <a:srgbClr val="E69F00"/>
      </a:accent2>
      <a:accent3>
        <a:srgbClr val="009E73"/>
      </a:accent3>
      <a:accent4>
        <a:srgbClr val="CC79A7"/>
      </a:accent4>
      <a:accent5>
        <a:srgbClr val="56B4E9"/>
      </a:accent5>
      <a:accent6>
        <a:srgbClr val="D55E00"/>
      </a:accent6>
      <a:hlink>
        <a:srgbClr val="0072B2"/>
      </a:hlink>
      <a:folHlink>
        <a:srgbClr val="6A3D9A"/>
      </a:folHlink>
    </a:clrScheme>
    <a:fontScheme name="Arial">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Okabe-Ito">
      <a:dk1>
        <a:srgbClr val="1F2A44"/>
      </a:dk1>
      <a:lt1>
        <a:srgbClr val="FFFFFF"/>
      </a:lt1>
      <a:dk2>
        <a:srgbClr val="1F2A44"/>
      </a:dk2>
      <a:lt2>
        <a:srgbClr val="EEF1F5"/>
      </a:lt2>
      <a:accent1>
        <a:srgbClr val="0072B2"/>
      </a:accent1>
      <a:accent2>
        <a:srgbClr val="E69F00"/>
      </a:accent2>
      <a:accent3>
        <a:srgbClr val="009E73"/>
      </a:accent3>
      <a:accent4>
        <a:srgbClr val="CC79A7"/>
      </a:accent4>
      <a:accent5>
        <a:srgbClr val="56B4E9"/>
      </a:accent5>
      <a:accent6>
        <a:srgbClr val="D55E00"/>
      </a:accent6>
      <a:hlink>
        <a:srgbClr val="0072B2"/>
      </a:hlink>
      <a:folHlink>
        <a:srgbClr val="6A3D9A"/>
      </a:folHlink>
    </a:clrScheme>
    <a:fontScheme name="Arial">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PresentationFormat>Widescreen</PresentationFormat>
  <Slides>20</Slides>
  <Notes>20</Notes>
</Properties>
</file>

<file path=docProps/core.xml><?xml version="1.0" encoding="utf-8"?>
<cp:coreProperties xmlns:cp="http://schemas.openxmlformats.org/package/2006/metadata/core-properties" xmlns:dc="http://purl.org/dc/elements/1.1/" xmlns:dcterms="http://purl.org/dc/terms/" xmlns:xsi="http://www.w3.org/2001/XMLSchema-instance">
  <dc:title>The Long Shadow of Mission Medicine: interview presentation</dc:title>
  <dc:creator>Michael Chanda Chiseni</dc:creator>
  <dcterms:created xsi:type="dcterms:W3CDTF">2026-10-29T00:00:00Z</dcterms:created>
</cp:coreProperties>
</file>